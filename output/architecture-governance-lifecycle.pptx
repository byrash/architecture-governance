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Architecture documentation today lives in Confluence as unstructured HTML with embedded images</a:t>
            </a:r>
          </a:p>
          <a:p>
            <a:r>
              <a:t>- No automated enforcement of patterns, standards, or security rules -- reviews are manual and inconsistent</a:t>
            </a:r>
          </a:p>
          <a:p>
            <a:r>
              <a:t>- Confluence content is not usable by LLMs or automation tools -- it's HTML with proprietary markup, not clean text</a:t>
            </a:r>
          </a:p>
          <a:p>
            <a:r>
              <a:t>- No standardized audit trail for architectural decisions -- Confluence page history is opaque</a:t>
            </a:r>
          </a:p>
          <a:p>
            <a:r>
              <a:t>- No quantifiable governance scorecard -- compliance is subjective</a:t>
            </a:r>
          </a:p>
          <a:p>
            <a:br/>
            <a:r>
              <a:t>SPEAKER NOTES:</a:t>
            </a:r>
            <a:br/>
            <a:r>
              <a:t>The core issue: we have knowledge locked in a format that neither humans can consistently govern nor machines can process. Every review is ad-hoc, and there's no way to scale enforcement as the organization grows.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**Format:** Architects author in Markdown + Mermaid diagrams-as-code -- plain text, version-controllable, LLM-readable</a:t>
            </a:r>
          </a:p>
          <a:p>
            <a:r>
              <a:t>- **Tooling:** Use VSCode or any editor of choice on their machines -- no proprietary tooling lock-in</a:t>
            </a:r>
          </a:p>
          <a:p>
            <a:r>
              <a:t>- **System of Record:** GitHub -- every change is a git commit with full traceability (who, what, when, why)</a:t>
            </a:r>
          </a:p>
          <a:p>
            <a:r>
              <a:t>- **Sharing:** Auto-published to Confluence (read-only) and/or DevDocs for stakeholder consumption</a:t>
            </a:r>
          </a:p>
          <a:p>
            <a:r>
              <a:t>- This is the same toolchain engineers already use -- architects join the same workflow</a:t>
            </a:r>
          </a:p>
          <a:p>
            <a:br/>
            <a:r>
              <a:t>SPEAKER NOTES:</a:t>
            </a:r>
            <a:br/>
            <a:r>
              <a:t>We're not inventing a new tool. We're adopting the same markdown + git workflow that engineering uses, applied to architecture documentation. The format is the enabler: plain-text markdown is machine-readable, version-controllable, and universally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**Two personas, one platform:** SMEs build the governance, Solution Architects consume it -- both work in markdown + git</a:t>
            </a:r>
          </a:p>
          <a:p>
            <a:r>
              <a:t>- **SME lifecycle (left):**</a:t>
            </a:r>
          </a:p>
          <a:p>
            <a:r>
              <a:t>  - Day 0: existing Confluence content auto-ingested and converted to markdown (don't start from scratch)</a:t>
            </a:r>
          </a:p>
          <a:p>
            <a:r>
              <a:t>  - Ongoing: author rules and skills in markdown, submit PRs under Inner Sourcing model</a:t>
            </a:r>
          </a:p>
          <a:p>
            <a:r>
              <a:t>  - All contributions reviewed by a SIG or Working Group (Nucleus-style governance) before merge</a:t>
            </a:r>
          </a:p>
          <a:p>
            <a:r>
              <a:t>- **Two types of SME contributions:**</a:t>
            </a:r>
          </a:p>
          <a:p>
            <a:r>
              <a:t>  - **Rules/Standards** -- indexed into the knowledge base for agents to validate against</a:t>
            </a:r>
          </a:p>
          <a:p>
            <a:r>
              <a:t>  - **Skills** -- executable packages that run as active validation steps in the pipeline</a:t>
            </a:r>
          </a:p>
          <a:p>
            <a:r>
              <a:t>- **Solution Architect lifecycle (right):**</a:t>
            </a:r>
          </a:p>
          <a:p>
            <a:r>
              <a:t>  - Author architecture in markdown + mermaid, commit to GitHub</a:t>
            </a:r>
          </a:p>
          <a:p>
            <a:r>
              <a:t>  - Governance agent auto-triggers, validates against rules AND executes contributed skills</a:t>
            </a:r>
          </a:p>
          <a:p>
            <a:r>
              <a:t>  - Scorecard (PASS/WARN/FAIL) -- iterate if needed, publish when passing</a:t>
            </a:r>
          </a:p>
          <a:p>
            <a:r>
              <a:t>- **The governance agent is the bridge** connecting both lifecycles</a:t>
            </a:r>
          </a:p>
          <a:p>
            <a:br/>
            <a:r>
              <a:t>SPEAKER NOTES:</a:t>
            </a:r>
            <a:br/>
            <a:r>
              <a:t>This is the centerpiece slide. The left side shows how governance content is built and contributed (with proper organizational oversight). The right side shows how architects experience it. The governance agent in the center is the automated bridge -- it consumes everything SMEs produce and applies it to everything architects create. No manual review bottleneck.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**Trigger:** Governance agent executes automatically on commit to GitHub -- no manual invocation needed</a:t>
            </a:r>
          </a:p>
          <a:p>
            <a:r>
              <a:t>- **Ingestion:** Content is parsed and validated for structure</a:t>
            </a:r>
          </a:p>
          <a:p>
            <a:r>
              <a:t>- **Parallel validation:** Three built-in agents run simultaneously, plus any contributed skills</a:t>
            </a:r>
          </a:p>
          <a:p>
            <a:r>
              <a:t>  - Patterns Agent (30% weight) -- design patterns, anti-patterns</a:t>
            </a:r>
          </a:p>
          <a:p>
            <a:r>
              <a:t>  - Standards Agent (30% weight) -- naming conventions, documentation standards</a:t>
            </a:r>
          </a:p>
          <a:p>
            <a:r>
              <a:t>  - Security Agent (40% weight) -- security controls, vulnerabilities</a:t>
            </a:r>
          </a:p>
          <a:p>
            <a:r>
              <a:t>  - Contributed Skills -- discovered and executed alongside built-in agents</a:t>
            </a:r>
          </a:p>
          <a:p>
            <a:r>
              <a:t>- **Scoring:** Weighted average produces a single governance score</a:t>
            </a:r>
          </a:p>
          <a:p>
            <a:r>
              <a:t>  - PASS: score &gt;= 70</a:t>
            </a:r>
          </a:p>
          <a:p>
            <a:r>
              <a:t>  - WARN: score 50-69</a:t>
            </a:r>
          </a:p>
          <a:p>
            <a:r>
              <a:t>  - FAIL: score &lt; 50</a:t>
            </a:r>
          </a:p>
          <a:p>
            <a:r>
              <a:t>- **Output:** Merged report + HTML dashboard delivered back to the architect</a:t>
            </a:r>
          </a:p>
          <a:p>
            <a:br/>
            <a:r>
              <a:t>SPEAKER NOTES:</a:t>
            </a:r>
            <a:br/>
            <a:r>
              <a:t>The key message: this is fully automated. The architect commits, the pipeline runs, and they get a scorecard. The weighting reflects organizational priorities -- security is weighted highest at 40%. Contributed skills from other teams are auto-discovered and run as first-class participants in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**GitHub is the single source of truth** -- all architecture artifacts live as markdown + mermaid in git repos</a:t>
            </a:r>
          </a:p>
          <a:p>
            <a:r>
              <a:t>- **Change history = git commits** -- who changed what, when, and why -- full audit trail with no ambiguity</a:t>
            </a:r>
          </a:p>
          <a:p>
            <a:r>
              <a:t>- **Auto-publish to Confluence on merge** -- CI/CD pipeline pushes rendered markdown to Confluence via API after each merge to main</a:t>
            </a:r>
          </a:p>
          <a:p>
            <a:r>
              <a:t>- **Confluence becomes a read-only view** -- stakeholders who prefer Confluence still see the content, but it's always in sync</a:t>
            </a:r>
          </a:p>
          <a:p>
            <a:r>
              <a:t>- **One-way sync eliminates drift** -- there is no manual copy/paste, no "which version is correct?" problem</a:t>
            </a:r>
          </a:p>
          <a:p>
            <a:r>
              <a:t>- Architects never touch Confluence directly -- they author in their editor, commit, and the pipeline handles the rest</a:t>
            </a:r>
          </a:p>
          <a:p>
            <a:br/>
            <a:r>
              <a:t>SPEAKER NOTES:</a:t>
            </a:r>
            <a:br/>
            <a:r>
              <a:t>This is critical for leadership: we're not asking anyone to give up Confluence as a viewing experience. Stakeholders still see content in Confluence if they prefer. But the source of truth is git, and the sync is automated and one-way. This eliminates the "two sources of truth" problem that plagues organizations using both tools.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**Track A (new content):** Authored natively in markdown + mermaid from day one -- straight into the governed pipeline</a:t>
            </a:r>
          </a:p>
          <a:p>
            <a:r>
              <a:t>- **Track B (existing content):** Ingestion tool auto-converts Confluence pages to clean markdown</a:t>
            </a:r>
          </a:p>
          <a:p>
            <a:r>
              <a:t>  - HTML to markdown conversion</a:t>
            </a:r>
          </a:p>
          <a:p>
            <a:r>
              <a:t>  - Draw.io diagrams converted to Mermaid (XML parsing, no LLM cost)</a:t>
            </a:r>
          </a:p>
          <a:p>
            <a:r>
              <a:t>  - PlantUML converted to Mermaid (parser-based, zero cost)</a:t>
            </a:r>
          </a:p>
          <a:p>
            <a:r>
              <a:t>  - Images converted to Mermaid (vision-based, where needed)</a:t>
            </a:r>
          </a:p>
          <a:p>
            <a:r>
              <a:t>- **SME review:** Converted content is reviewed for accuracy before committing as the baseline</a:t>
            </a:r>
          </a:p>
          <a:p>
            <a:r>
              <a:t>- **Convergence:** After initial migration, Track B content joins Track A -- everything is markdown-native going forward</a:t>
            </a:r>
          </a:p>
          <a:p>
            <a:r>
              <a:t>- **Already built:** The ingestion and conversion tooling is fully operational today</a:t>
            </a:r>
          </a:p>
          <a:p>
            <a:br/>
            <a:r>
              <a:t>SPEAKER NOTES:</a:t>
            </a:r>
            <a:br/>
            <a:r>
              <a:t>This is how we address the "we already have years of content in Confluence" concern. We don't ask anyone to re-author from scratch. The ingestion tool handles the conversion, SMEs review it, and from that point forward it's all markdown-native. The conversion tooling for Draw.io and PlantUML is parser-based (not LLM), so it's fast and free.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**Enforcement of best practices:** Automated, consistent validation of every architecture against organizational patterns, standards, and security rules -- no subjectivity</a:t>
            </a:r>
          </a:p>
          <a:p>
            <a:r>
              <a:t>- **LLM-ready documentation:** Markdown is machine-readable; Confluence HTML is not. This positions architecture docs for AI-assisted review and generation</a:t>
            </a:r>
          </a:p>
          <a:p>
            <a:r>
              <a:t>- **Scalable governance:** Teams contribute their own rules via Inner Sourcing model under SIG/Working Group oversight. After initial setup, zero coordination overhead</a:t>
            </a:r>
          </a:p>
          <a:p>
            <a:r>
              <a:t>- **Full traceability:** Git commits provide complete audit trail -- who changed what, when, why. Compliance becomes quantifiable via governance scores</a:t>
            </a:r>
          </a:p>
          <a:p>
            <a:r>
              <a:t>- **Stakeholder communication:** Architecture is auto-published and visualized for stakeholders via Confluence or DevDocs -- no extra effort from architects</a:t>
            </a:r>
          </a:p>
          <a:p>
            <a:br/>
            <a:r>
              <a:t>SPEAKER NOTES:</a:t>
            </a:r>
            <a:br/>
            <a:r>
              <a:t>Tie every benefit to an organizational outcome. Enforcement reduces risk. LLM-readiness future-proofs the investment. Scalability means this doesn't become a bottleneck as the org grows. Traceability satisfies audit requirements. And auto-publishing means architects focus on architecture, not formatting Confluence pages.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**Already in production:** Other engineering teams have built governance skills (markdown instructions, Python scripts) for their own code governance purposes</a:t>
            </a:r>
          </a:p>
          <a:p>
            <a:r>
              <a:t>- **Team A:** Created a skill as a set of markdown instruction files in their own git repo -- integrated via git submodules</a:t>
            </a:r>
          </a:p>
          <a:p>
            <a:r>
              <a:t>- **Team B:** Created a skill with markdown guidelines + Python scripts for code governance -- also integrated via submodules</a:t>
            </a:r>
          </a:p>
          <a:p>
            <a:r>
              <a:t>- **We extract the rules:** Their skills contain rich patterns, guidelines, and standards -- we pull those rules out and apply them to architecture governance</a:t>
            </a:r>
          </a:p>
          <a:p>
            <a:r>
              <a:t>- **Same governance model:** All contributions follow Inner Sourcing principles under SIG/Working Group review</a:t>
            </a:r>
          </a:p>
          <a:p>
            <a:r>
              <a:t>- **Key message:** This is not a greenfield experiment -- teams are already producing governance content in markdown + git, and we extract and reuse their rules for architecture validation</a:t>
            </a:r>
          </a:p>
          <a:p>
            <a:br/>
            <a:r>
              <a:t>SPEAKER NOTES:</a:t>
            </a:r>
            <a:br/>
            <a:r>
              <a:t>This is powerful proof of adoption. Two teams independently built skills for code governance, and we extract the rules embedded in those skills -- patterns, standards, guidelines -- and apply them to architecture governance. The submodule model means each team owns their skill in their own repo, pushes updates on their own schedule, and the governance pipeline picks up rule changes automatically. We don't do code governance ourselves -- we leverage the rules others have codified.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**5 AI agents** operational: governance orchestrator, ingestion, patterns, standards, security</a:t>
            </a:r>
          </a:p>
          <a:p>
            <a:r>
              <a:t>- **Diagram conversion** built and working:</a:t>
            </a:r>
          </a:p>
          <a:p>
            <a:r>
              <a:t>  - Draw.io XML to Mermaid (parser-based, zero LLM cost)</a:t>
            </a:r>
          </a:p>
          <a:p>
            <a:r>
              <a:t>  - PlantUML to Mermaid (parser-based, zero cost)</a:t>
            </a:r>
          </a:p>
          <a:p>
            <a:r>
              <a:t>  - Image to Mermaid (vision-based, for non-parseable diagrams)</a:t>
            </a:r>
          </a:p>
          <a:p>
            <a:r>
              <a:t>- **Weighted scoring** with merged reports: Patterns 30%, Standards 30%, Security 40%</a:t>
            </a:r>
          </a:p>
          <a:p>
            <a:r>
              <a:t>- **HTML dashboard** generation for governance results</a:t>
            </a:r>
          </a:p>
          <a:p>
            <a:r>
              <a:t>- **Multi-team skill contribution** model via git submodules with auto-discovery by category tag</a:t>
            </a:r>
          </a:p>
          <a:p>
            <a:r>
              <a:t>- **Cross-team skills** from two engineering teams already integrated and running</a:t>
            </a:r>
          </a:p>
          <a:p>
            <a:r>
              <a:t>- **Knowledge base** with indexed rules, automated extraction, and staleness checking</a:t>
            </a:r>
          </a:p>
          <a:p>
            <a:br/>
            <a:r>
              <a:t>SPEAKER NOTES:</a:t>
            </a:r>
            <a:br/>
            <a:r>
              <a:t>Everything described in the previous slides is not aspirational -- the core platform is built and operational. The agents run, the converters work, the scoring produces results, and cross-team skills are already integrated. What remains is the CI/CD trigger on commit (requires engineering partnership) and the auto-publish to Confluence pipeline.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a:t>
            </a:r>
          </a:p>
          <a:p>
            <a:r>
              <a:t>- **Phase 1 -- Pilot:** Select one architecture team, adopt GitHub-native markdown workflow, run governance via IDE agents (already works today)</a:t>
            </a:r>
          </a:p>
          <a:p>
            <a:r>
              <a:t>- **Phase 2 -- Migrate:** Convert high-value existing Confluence pages using the ingestion tool, SMEs review converted baselines, build out the governance knowledge base</a:t>
            </a:r>
          </a:p>
          <a:p>
            <a:r>
              <a:t>- **Phase 3 -- Automate:** Partner with engineering to enable governance-on-commit via GitHub Actions, set up auto-publish pipeline to Confluence, governance scorecards appear on every PR</a:t>
            </a:r>
          </a:p>
          <a:p>
            <a:r>
              <a:t>- **Phase 4 -- Scale:** Onboard additional architecture teams, SIGs and Working Groups contribute domain-specific rules and skills, enable DevDocs or static site visualization for broader stakeholder communication</a:t>
            </a:r>
          </a:p>
          <a:p>
            <a:br/>
            <a:r>
              <a:t>SPEAKER NOTES:</a:t>
            </a:r>
            <a:br/>
            <a:r>
              <a:t>Phase 1 is achievable immediately with what's already built. Phase 2 uses the existing ingestion tooling. Phase 3 requires engineering partnership for CI/CD integration. Phase 4 is the organizational scaling play. Each phase builds on the previous one with clear, measurable outcomes.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2286000"/>
            <a:ext cx="10362895" cy="1828800"/>
          </a:xfrm>
          <a:prstGeom prst="rect">
            <a:avLst/>
          </a:prstGeom>
          <a:noFill/>
        </p:spPr>
        <p:txBody>
          <a:bodyPr wrap="square">
            <a:spAutoFit/>
          </a:bodyPr>
          <a:lstStyle/>
          <a:p>
            <a:pPr algn="ctr">
              <a:defRPr sz="4400" b="1">
                <a:solidFill>
                  <a:srgbClr val="1A1A2E"/>
                </a:solidFill>
              </a:defRPr>
            </a:pPr>
            <a:r>
              <a:t>Architecture Governance</a:t>
            </a:r>
          </a:p>
          <a:p>
            <a:pPr algn="ctr">
              <a:spcBef>
                <a:spcPts val="1200"/>
              </a:spcBef>
              <a:defRPr sz="2400">
                <a:solidFill>
                  <a:srgbClr val="444444"/>
                </a:solidFill>
              </a:defRPr>
            </a:pPr>
            <a:r>
              <a:t>Lifecycle &amp; Governance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The Problem Today</a:t>
            </a:r>
          </a:p>
        </p:txBody>
      </p:sp>
      <p:sp>
        <p:nvSpPr>
          <p:cNvPr id="3" name="Rectangle 2"/>
          <p:cNvSpPr/>
          <p:nvPr/>
        </p:nvSpPr>
        <p:spPr>
          <a:xfrm>
            <a:off x="6319201" y="1916775"/>
            <a:ext cx="5511930" cy="3298770"/>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The Gaps</a:t>
            </a:r>
          </a:p>
        </p:txBody>
      </p:sp>
      <p:sp>
        <p:nvSpPr>
          <p:cNvPr id="4" name="Rectangle 3"/>
          <p:cNvSpPr/>
          <p:nvPr/>
        </p:nvSpPr>
        <p:spPr>
          <a:xfrm>
            <a:off x="360562" y="1916775"/>
            <a:ext cx="5419624" cy="3298770"/>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Today</a:t>
            </a:r>
          </a:p>
        </p:txBody>
      </p:sp>
      <p:cxnSp>
        <p:nvCxnSpPr>
          <p:cNvPr id="5" name="Connector 4"/>
          <p:cNvCxnSpPr/>
          <p:nvPr/>
        </p:nvCxnSpPr>
        <p:spPr>
          <a:xfrm>
            <a:off x="5780187" y="3566160"/>
            <a:ext cx="539014"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913253" y="3032535"/>
            <a:ext cx="0" cy="1067250"/>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561416" y="3161899"/>
            <a:ext cx="0" cy="808522"/>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1346" y="3161899"/>
            <a:ext cx="0" cy="808522"/>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523356" y="3161899"/>
            <a:ext cx="0" cy="808522"/>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08412" y="2450399"/>
            <a:ext cx="2009682" cy="582135"/>
          </a:xfrm>
          <a:prstGeom prst="roundRect">
            <a:avLst/>
          </a:prstGeom>
          <a:solidFill>
            <a:srgbClr val="991B1B"/>
          </a:solidFill>
          <a:ln w="12700">
            <a:solidFill>
              <a:srgbClr val="7F1D1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Not LLM-readable</a:t>
            </a:r>
          </a:p>
        </p:txBody>
      </p:sp>
      <p:sp>
        <p:nvSpPr>
          <p:cNvPr id="11" name="Rounded Rectangle 10"/>
          <p:cNvSpPr/>
          <p:nvPr/>
        </p:nvSpPr>
        <p:spPr>
          <a:xfrm>
            <a:off x="6696512" y="4099785"/>
            <a:ext cx="2433483" cy="582135"/>
          </a:xfrm>
          <a:prstGeom prst="roundRect">
            <a:avLst/>
          </a:prstGeom>
          <a:solidFill>
            <a:srgbClr val="991B1B"/>
          </a:solidFill>
          <a:ln w="12700">
            <a:solidFill>
              <a:srgbClr val="7F1D1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Not machine-parseable</a:t>
            </a:r>
          </a:p>
        </p:txBody>
      </p:sp>
      <p:sp>
        <p:nvSpPr>
          <p:cNvPr id="12" name="Rounded Rectangle 11"/>
          <p:cNvSpPr/>
          <p:nvPr/>
        </p:nvSpPr>
        <p:spPr>
          <a:xfrm>
            <a:off x="9722405" y="2321036"/>
            <a:ext cx="1678020" cy="840862"/>
          </a:xfrm>
          <a:prstGeom prst="roundRect">
            <a:avLst/>
          </a:prstGeom>
          <a:solidFill>
            <a:srgbClr val="991B1B"/>
          </a:solidFill>
          <a:ln w="12700">
            <a:solidFill>
              <a:srgbClr val="7F1D1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No audit trailfor changes</a:t>
            </a:r>
          </a:p>
        </p:txBody>
      </p:sp>
      <p:sp>
        <p:nvSpPr>
          <p:cNvPr id="13" name="Rounded Rectangle 12"/>
          <p:cNvSpPr/>
          <p:nvPr/>
        </p:nvSpPr>
        <p:spPr>
          <a:xfrm>
            <a:off x="9669009" y="3970421"/>
            <a:ext cx="1784812" cy="840862"/>
          </a:xfrm>
          <a:prstGeom prst="roundRect">
            <a:avLst/>
          </a:prstGeom>
          <a:solidFill>
            <a:srgbClr val="991B1B"/>
          </a:solidFill>
          <a:ln w="12700">
            <a:solidFill>
              <a:srgbClr val="7F1D1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No governancescorecard</a:t>
            </a:r>
          </a:p>
        </p:txBody>
      </p:sp>
      <p:sp>
        <p:nvSpPr>
          <p:cNvPr id="14" name="Rounded Rectangle 13"/>
          <p:cNvSpPr/>
          <p:nvPr/>
        </p:nvSpPr>
        <p:spPr>
          <a:xfrm>
            <a:off x="863951" y="2321036"/>
            <a:ext cx="2114790" cy="840862"/>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Architects write inConfluence (HTML)</a:t>
            </a:r>
          </a:p>
        </p:txBody>
      </p:sp>
      <p:sp>
        <p:nvSpPr>
          <p:cNvPr id="15" name="Rounded Rectangle 14"/>
          <p:cNvSpPr/>
          <p:nvPr/>
        </p:nvSpPr>
        <p:spPr>
          <a:xfrm>
            <a:off x="737872" y="3970421"/>
            <a:ext cx="2366948" cy="840862"/>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Diagrams as images(Draw.io, screenshots)</a:t>
            </a:r>
          </a:p>
        </p:txBody>
      </p:sp>
      <p:sp>
        <p:nvSpPr>
          <p:cNvPr id="16" name="Rounded Rectangle 15"/>
          <p:cNvSpPr/>
          <p:nvPr/>
        </p:nvSpPr>
        <p:spPr>
          <a:xfrm>
            <a:off x="3653521" y="2321036"/>
            <a:ext cx="1739670" cy="840862"/>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No automatedenforcement</a:t>
            </a:r>
          </a:p>
        </p:txBody>
      </p:sp>
      <p:sp>
        <p:nvSpPr>
          <p:cNvPr id="17" name="Rounded Rectangle 16"/>
          <p:cNvSpPr/>
          <p:nvPr/>
        </p:nvSpPr>
        <p:spPr>
          <a:xfrm>
            <a:off x="3643835" y="3970421"/>
            <a:ext cx="1759040" cy="840862"/>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Manual review(inconsistent)</a:t>
            </a:r>
          </a:p>
        </p:txBody>
      </p:sp>
      <p:sp>
        <p:nvSpPr>
          <p:cNvPr id="18" name="TextBox 17"/>
          <p:cNvSpPr txBox="1"/>
          <p:nvPr/>
        </p:nvSpPr>
        <p:spPr>
          <a:xfrm>
            <a:off x="457200" y="6126480"/>
            <a:ext cx="11277295" cy="365760"/>
          </a:xfrm>
          <a:prstGeom prst="rect">
            <a:avLst/>
          </a:prstGeom>
          <a:noFill/>
        </p:spPr>
        <p:txBody>
          <a:bodyPr wrap="square">
            <a:spAutoFit/>
          </a:bodyPr>
          <a:lstStyle/>
          <a:p>
            <a:pPr algn="r"/>
            <a:r>
              <a:rPr sz="1000">
                <a:solidFill>
                  <a:srgbClr val="DC2626"/>
                </a:solidFill>
              </a:rPr>
              <a:t>■ </a:t>
            </a:r>
            <a:r>
              <a:rPr sz="1000">
                <a:solidFill>
                  <a:srgbClr val="444444"/>
                </a:solidFill>
              </a:rPr>
              <a:t>Current State     </a:t>
            </a:r>
            <a:r>
              <a:rPr sz="1000">
                <a:solidFill>
                  <a:srgbClr val="991B1B"/>
                </a:solidFill>
              </a:rPr>
              <a:t>■ </a:t>
            </a:r>
            <a:r>
              <a:rPr sz="1000">
                <a:solidFill>
                  <a:srgbClr val="444444"/>
                </a:solidFill>
              </a:rPr>
              <a:t>Resulting Gaps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What We're Prescribing</a:t>
            </a:r>
          </a:p>
        </p:txBody>
      </p:sp>
      <p:sp>
        <p:nvSpPr>
          <p:cNvPr id="3" name="Rectangle 2"/>
          <p:cNvSpPr/>
          <p:nvPr/>
        </p:nvSpPr>
        <p:spPr>
          <a:xfrm>
            <a:off x="7923415" y="2882536"/>
            <a:ext cx="3932163" cy="1367247"/>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How It's Shared</a:t>
            </a:r>
          </a:p>
        </p:txBody>
      </p:sp>
      <p:sp>
        <p:nvSpPr>
          <p:cNvPr id="4" name="Rectangle 3"/>
          <p:cNvSpPr/>
          <p:nvPr/>
        </p:nvSpPr>
        <p:spPr>
          <a:xfrm>
            <a:off x="4828159" y="2384302"/>
            <a:ext cx="2021300" cy="2363715"/>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Where It Lives</a:t>
            </a:r>
          </a:p>
        </p:txBody>
      </p:sp>
      <p:sp>
        <p:nvSpPr>
          <p:cNvPr id="5" name="Rectangle 4"/>
          <p:cNvSpPr/>
          <p:nvPr/>
        </p:nvSpPr>
        <p:spPr>
          <a:xfrm>
            <a:off x="336116" y="2384302"/>
            <a:ext cx="3688809" cy="2363715"/>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How Architects Author</a:t>
            </a:r>
          </a:p>
        </p:txBody>
      </p:sp>
      <p:cxnSp>
        <p:nvCxnSpPr>
          <p:cNvPr id="6" name="Connector 5"/>
          <p:cNvCxnSpPr/>
          <p:nvPr/>
        </p:nvCxnSpPr>
        <p:spPr>
          <a:xfrm>
            <a:off x="4024926" y="3566160"/>
            <a:ext cx="80323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849459" y="3566160"/>
            <a:ext cx="1073956"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838809" y="3276489"/>
            <a:ext cx="0" cy="579342"/>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313544" y="3276489"/>
            <a:ext cx="404081" cy="579342"/>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558114" y="3276489"/>
            <a:ext cx="404081" cy="579342"/>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532240" y="3313445"/>
            <a:ext cx="1371600" cy="320040"/>
          </a:xfrm>
          <a:prstGeom prst="rect">
            <a:avLst/>
          </a:prstGeom>
          <a:noFill/>
        </p:spPr>
        <p:txBody>
          <a:bodyPr wrap="square">
            <a:spAutoFit/>
          </a:bodyPr>
          <a:lstStyle/>
          <a:p>
            <a:pPr algn="ctr">
              <a:defRPr sz="900">
                <a:solidFill>
                  <a:srgbClr val="333333"/>
                </a:solidFill>
              </a:defRPr>
            </a:pPr>
            <a:r>
              <a:t>commit</a:t>
            </a:r>
          </a:p>
        </p:txBody>
      </p:sp>
      <p:sp>
        <p:nvSpPr>
          <p:cNvPr id="12" name="TextBox 11"/>
          <p:cNvSpPr txBox="1"/>
          <p:nvPr/>
        </p:nvSpPr>
        <p:spPr>
          <a:xfrm>
            <a:off x="6356773" y="3220750"/>
            <a:ext cx="1371600" cy="320040"/>
          </a:xfrm>
          <a:prstGeom prst="rect">
            <a:avLst/>
          </a:prstGeom>
          <a:noFill/>
        </p:spPr>
        <p:txBody>
          <a:bodyPr wrap="square">
            <a:spAutoFit/>
          </a:bodyPr>
          <a:lstStyle/>
          <a:p>
            <a:pPr algn="ctr">
              <a:defRPr sz="900">
                <a:solidFill>
                  <a:srgbClr val="333333"/>
                </a:solidFill>
              </a:defRPr>
            </a:pPr>
            <a:r>
              <a:t>CI/CDauto-publish</a:t>
            </a:r>
          </a:p>
        </p:txBody>
      </p:sp>
      <p:sp>
        <p:nvSpPr>
          <p:cNvPr id="13" name="Rounded Rectangle 12"/>
          <p:cNvSpPr/>
          <p:nvPr/>
        </p:nvSpPr>
        <p:spPr>
          <a:xfrm>
            <a:off x="8193774" y="3172207"/>
            <a:ext cx="1378230" cy="787905"/>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Confluence(auto-published,read-only view)</a:t>
            </a:r>
          </a:p>
        </p:txBody>
      </p:sp>
      <p:sp>
        <p:nvSpPr>
          <p:cNvPr id="14" name="Rounded Rectangle 13"/>
          <p:cNvSpPr/>
          <p:nvPr/>
        </p:nvSpPr>
        <p:spPr>
          <a:xfrm>
            <a:off x="9958233" y="3264902"/>
            <a:ext cx="1626985" cy="602515"/>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DevDocs / Static Site(visualization)</a:t>
            </a:r>
          </a:p>
        </p:txBody>
      </p:sp>
      <p:sp>
        <p:nvSpPr>
          <p:cNvPr id="15" name="Rounded Rectangle 14"/>
          <p:cNvSpPr/>
          <p:nvPr/>
        </p:nvSpPr>
        <p:spPr>
          <a:xfrm>
            <a:off x="5098519" y="2673973"/>
            <a:ext cx="1480580" cy="602515"/>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GitHub(system of record)</a:t>
            </a:r>
          </a:p>
        </p:txBody>
      </p:sp>
      <p:sp>
        <p:nvSpPr>
          <p:cNvPr id="16" name="Rounded Rectangle 15"/>
          <p:cNvSpPr/>
          <p:nvPr/>
        </p:nvSpPr>
        <p:spPr>
          <a:xfrm>
            <a:off x="5264657" y="3855831"/>
            <a:ext cx="1148304" cy="602515"/>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Commits(audit trail)</a:t>
            </a:r>
          </a:p>
        </p:txBody>
      </p:sp>
      <p:sp>
        <p:nvSpPr>
          <p:cNvPr id="17" name="Rounded Rectangle 16"/>
          <p:cNvSpPr/>
          <p:nvPr/>
        </p:nvSpPr>
        <p:spPr>
          <a:xfrm>
            <a:off x="1269641" y="2673973"/>
            <a:ext cx="1736457" cy="602515"/>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Editor of Choice(VSCode, IntelliJ, etc.)</a:t>
            </a:r>
          </a:p>
        </p:txBody>
      </p:sp>
      <p:sp>
        <p:nvSpPr>
          <p:cNvPr id="18" name="Rounded Rectangle 17"/>
          <p:cNvSpPr/>
          <p:nvPr/>
        </p:nvSpPr>
        <p:spPr>
          <a:xfrm>
            <a:off x="767635" y="3855831"/>
            <a:ext cx="1091818" cy="602515"/>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Markdown(plain text)</a:t>
            </a:r>
          </a:p>
        </p:txBody>
      </p:sp>
      <p:sp>
        <p:nvSpPr>
          <p:cNvPr id="19" name="Rounded Rectangle 18"/>
          <p:cNvSpPr/>
          <p:nvPr/>
        </p:nvSpPr>
        <p:spPr>
          <a:xfrm>
            <a:off x="2245682" y="3855831"/>
            <a:ext cx="1433026" cy="602515"/>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Diagrams as Code(Mermaid)</a:t>
            </a:r>
          </a:p>
        </p:txBody>
      </p:sp>
      <p:sp>
        <p:nvSpPr>
          <p:cNvPr id="20" name="TextBox 19"/>
          <p:cNvSpPr txBox="1"/>
          <p:nvPr/>
        </p:nvSpPr>
        <p:spPr>
          <a:xfrm>
            <a:off x="457200" y="6126480"/>
            <a:ext cx="11277295" cy="365760"/>
          </a:xfrm>
          <a:prstGeom prst="rect">
            <a:avLst/>
          </a:prstGeom>
          <a:noFill/>
        </p:spPr>
        <p:txBody>
          <a:bodyPr wrap="square">
            <a:spAutoFit/>
          </a:bodyPr>
          <a:lstStyle/>
          <a:p>
            <a:pPr algn="r"/>
            <a:r>
              <a:rPr sz="1000">
                <a:solidFill>
                  <a:srgbClr val="059669"/>
                </a:solidFill>
              </a:rPr>
              <a:t>■ </a:t>
            </a:r>
            <a:r>
              <a:rPr sz="1000">
                <a:solidFill>
                  <a:srgbClr val="444444"/>
                </a:solidFill>
              </a:rPr>
              <a:t>Solution Architect     </a:t>
            </a:r>
            <a:r>
              <a:rPr sz="1000">
                <a:solidFill>
                  <a:srgbClr val="0891B2"/>
                </a:solidFill>
              </a:rPr>
              <a:t>■ </a:t>
            </a:r>
            <a:r>
              <a:rPr sz="1000">
                <a:solidFill>
                  <a:srgbClr val="444444"/>
                </a:solidFill>
              </a:rPr>
              <a:t>Infrastructure     </a:t>
            </a:r>
            <a:r>
              <a:rPr sz="1000">
                <a:solidFill>
                  <a:srgbClr val="7C3AED"/>
                </a:solidFill>
              </a:rPr>
              <a:t>■ </a:t>
            </a:r>
            <a:r>
              <a:rPr sz="1000">
                <a:solidFill>
                  <a:srgbClr val="444444"/>
                </a:solidFill>
              </a:rPr>
              <a:t>Publishing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Two Lifecycles, One Platform</a:t>
            </a:r>
          </a:p>
        </p:txBody>
      </p:sp>
      <p:sp>
        <p:nvSpPr>
          <p:cNvPr id="3" name="Rectangle 2"/>
          <p:cNvSpPr/>
          <p:nvPr/>
        </p:nvSpPr>
        <p:spPr>
          <a:xfrm>
            <a:off x="4196432" y="3907942"/>
            <a:ext cx="3248336" cy="2262835"/>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Solution Architect</a:t>
            </a:r>
          </a:p>
        </p:txBody>
      </p:sp>
      <p:sp>
        <p:nvSpPr>
          <p:cNvPr id="4" name="Rectangle 3"/>
          <p:cNvSpPr/>
          <p:nvPr/>
        </p:nvSpPr>
        <p:spPr>
          <a:xfrm>
            <a:off x="4595577" y="2128316"/>
            <a:ext cx="3000540" cy="872134"/>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Contributions</a:t>
            </a:r>
          </a:p>
        </p:txBody>
      </p:sp>
      <p:sp>
        <p:nvSpPr>
          <p:cNvPr id="5" name="Rectangle 4"/>
          <p:cNvSpPr/>
          <p:nvPr/>
        </p:nvSpPr>
        <p:spPr>
          <a:xfrm>
            <a:off x="3803824" y="961542"/>
            <a:ext cx="4584045" cy="872134"/>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SME / Governance Author</a:t>
            </a:r>
          </a:p>
        </p:txBody>
      </p:sp>
      <p:cxnSp>
        <p:nvCxnSpPr>
          <p:cNvPr id="6" name="Connector 5"/>
          <p:cNvCxnSpPr/>
          <p:nvPr/>
        </p:nvCxnSpPr>
        <p:spPr>
          <a:xfrm>
            <a:off x="5061016" y="5410606"/>
            <a:ext cx="497515" cy="29464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566733" y="3613302"/>
            <a:ext cx="0" cy="209194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701144" y="3613302"/>
            <a:ext cx="189761" cy="44196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29631" y="4514900"/>
            <a:ext cx="311642" cy="506781"/>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5061016" y="4514900"/>
            <a:ext cx="311641" cy="436068"/>
          </a:xfrm>
          <a:prstGeom prst="line">
            <a:avLst/>
          </a:prstGeom>
          <a:ln w="19050">
            <a:solidFill>
              <a:srgbClr val="333333"/>
            </a:solidFill>
            <a:prstDash val="sysDash"/>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847" y="1833676"/>
            <a:ext cx="0" cy="29464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3000451"/>
            <a:ext cx="0" cy="29464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81450" y="1397609"/>
            <a:ext cx="441960"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09724" y="1397609"/>
            <a:ext cx="441960"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568462" y="4502200"/>
            <a:ext cx="1371600" cy="320040"/>
          </a:xfrm>
          <a:prstGeom prst="rect">
            <a:avLst/>
          </a:prstGeom>
          <a:noFill/>
        </p:spPr>
        <p:txBody>
          <a:bodyPr wrap="square">
            <a:spAutoFit/>
          </a:bodyPr>
          <a:lstStyle/>
          <a:p>
            <a:pPr algn="ctr">
              <a:defRPr sz="900">
                <a:solidFill>
                  <a:srgbClr val="333333"/>
                </a:solidFill>
              </a:defRPr>
            </a:pPr>
            <a:r>
              <a:t>Pass</a:t>
            </a:r>
          </a:p>
        </p:txBody>
      </p:sp>
      <p:sp>
        <p:nvSpPr>
          <p:cNvPr id="16" name="TextBox 15"/>
          <p:cNvSpPr txBox="1"/>
          <p:nvPr/>
        </p:nvSpPr>
        <p:spPr>
          <a:xfrm>
            <a:off x="4138813" y="4502200"/>
            <a:ext cx="1371600" cy="320040"/>
          </a:xfrm>
          <a:prstGeom prst="rect">
            <a:avLst/>
          </a:prstGeom>
          <a:noFill/>
        </p:spPr>
        <p:txBody>
          <a:bodyPr wrap="square">
            <a:spAutoFit/>
          </a:bodyPr>
          <a:lstStyle/>
          <a:p>
            <a:pPr algn="ctr">
              <a:defRPr sz="900">
                <a:solidFill>
                  <a:srgbClr val="333333"/>
                </a:solidFill>
              </a:defRPr>
            </a:pPr>
            <a:r>
              <a:t>Fail / Warn</a:t>
            </a:r>
          </a:p>
        </p:txBody>
      </p:sp>
      <p:sp>
        <p:nvSpPr>
          <p:cNvPr id="17" name="Rounded Rectangle 16"/>
          <p:cNvSpPr/>
          <p:nvPr/>
        </p:nvSpPr>
        <p:spPr>
          <a:xfrm>
            <a:off x="4816557" y="2334564"/>
            <a:ext cx="1131417" cy="459638"/>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Rules indexed intoknowledge base</a:t>
            </a:r>
          </a:p>
        </p:txBody>
      </p:sp>
      <p:sp>
        <p:nvSpPr>
          <p:cNvPr id="18" name="Rounded Rectangle 17"/>
          <p:cNvSpPr/>
          <p:nvPr/>
        </p:nvSpPr>
        <p:spPr>
          <a:xfrm>
            <a:off x="6389934" y="2334564"/>
            <a:ext cx="985202" cy="459638"/>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Skills executedin pipeline</a:t>
            </a:r>
          </a:p>
        </p:txBody>
      </p:sp>
      <p:sp>
        <p:nvSpPr>
          <p:cNvPr id="19" name="Rounded Rectangle 18"/>
          <p:cNvSpPr/>
          <p:nvPr/>
        </p:nvSpPr>
        <p:spPr>
          <a:xfrm>
            <a:off x="4024804" y="1167790"/>
            <a:ext cx="1156646" cy="459638"/>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Ingest fromConfluence (Day 0)</a:t>
            </a:r>
          </a:p>
        </p:txBody>
      </p:sp>
      <p:sp>
        <p:nvSpPr>
          <p:cNvPr id="20" name="Rounded Rectangle 19"/>
          <p:cNvSpPr/>
          <p:nvPr/>
        </p:nvSpPr>
        <p:spPr>
          <a:xfrm>
            <a:off x="5623410" y="1167790"/>
            <a:ext cx="886313" cy="459638"/>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Author Rules&amp; Skills</a:t>
            </a:r>
          </a:p>
        </p:txBody>
      </p:sp>
      <p:sp>
        <p:nvSpPr>
          <p:cNvPr id="21" name="Rounded Rectangle 20"/>
          <p:cNvSpPr/>
          <p:nvPr/>
        </p:nvSpPr>
        <p:spPr>
          <a:xfrm>
            <a:off x="6951684" y="1167790"/>
            <a:ext cx="1215205" cy="459638"/>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SIG / Working GroupReview &amp; Merge</a:t>
            </a:r>
          </a:p>
        </p:txBody>
      </p:sp>
      <p:sp>
        <p:nvSpPr>
          <p:cNvPr id="22" name="Rounded Rectangle 21"/>
          <p:cNvSpPr/>
          <p:nvPr/>
        </p:nvSpPr>
        <p:spPr>
          <a:xfrm>
            <a:off x="5536169" y="3295091"/>
            <a:ext cx="1119355" cy="318211"/>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 Agent</a:t>
            </a:r>
          </a:p>
        </p:txBody>
      </p:sp>
      <p:sp>
        <p:nvSpPr>
          <p:cNvPr id="23" name="Rounded Rectangle 22"/>
          <p:cNvSpPr/>
          <p:nvPr/>
        </p:nvSpPr>
        <p:spPr>
          <a:xfrm>
            <a:off x="4402680" y="4950968"/>
            <a:ext cx="1316672" cy="459638"/>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Author Architecture(Markdown + Mermaid)</a:t>
            </a:r>
          </a:p>
        </p:txBody>
      </p:sp>
      <p:sp>
        <p:nvSpPr>
          <p:cNvPr id="24" name="Rounded Rectangle 23"/>
          <p:cNvSpPr/>
          <p:nvPr/>
        </p:nvSpPr>
        <p:spPr>
          <a:xfrm>
            <a:off x="5535893" y="5705246"/>
            <a:ext cx="1119908" cy="318211"/>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Commit to GitHub</a:t>
            </a:r>
          </a:p>
        </p:txBody>
      </p:sp>
      <p:sp>
        <p:nvSpPr>
          <p:cNvPr id="25" name="Rounded Rectangle 24"/>
          <p:cNvSpPr/>
          <p:nvPr/>
        </p:nvSpPr>
        <p:spPr>
          <a:xfrm>
            <a:off x="5117987" y="4055262"/>
            <a:ext cx="1166314" cy="459638"/>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ScorecardPASS / WARN / FAIL</a:t>
            </a:r>
          </a:p>
        </p:txBody>
      </p:sp>
      <p:sp>
        <p:nvSpPr>
          <p:cNvPr id="26" name="Rounded Rectangle 25"/>
          <p:cNvSpPr/>
          <p:nvPr/>
        </p:nvSpPr>
        <p:spPr>
          <a:xfrm>
            <a:off x="6013992" y="5021681"/>
            <a:ext cx="654561" cy="318211"/>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Publish</a:t>
            </a:r>
          </a:p>
        </p:txBody>
      </p:sp>
      <p:sp>
        <p:nvSpPr>
          <p:cNvPr id="27" name="TextBox 26"/>
          <p:cNvSpPr txBox="1"/>
          <p:nvPr/>
        </p:nvSpPr>
        <p:spPr>
          <a:xfrm>
            <a:off x="457200" y="6126480"/>
            <a:ext cx="11277295" cy="365760"/>
          </a:xfrm>
          <a:prstGeom prst="rect">
            <a:avLst/>
          </a:prstGeom>
          <a:noFill/>
        </p:spPr>
        <p:txBody>
          <a:bodyPr wrap="square">
            <a:spAutoFit/>
          </a:bodyPr>
          <a:lstStyle/>
          <a:p>
            <a:pPr algn="r"/>
            <a:r>
              <a:rPr sz="1000">
                <a:solidFill>
                  <a:srgbClr val="2563EB"/>
                </a:solidFill>
              </a:rPr>
              <a:t>■ </a:t>
            </a:r>
            <a:r>
              <a:rPr sz="1000">
                <a:solidFill>
                  <a:srgbClr val="444444"/>
                </a:solidFill>
              </a:rPr>
              <a:t>SME / Governance Author     </a:t>
            </a:r>
            <a:r>
              <a:rPr sz="1000">
                <a:solidFill>
                  <a:srgbClr val="D97706"/>
                </a:solidFill>
              </a:rPr>
              <a:t>■ </a:t>
            </a:r>
            <a:r>
              <a:rPr sz="1000">
                <a:solidFill>
                  <a:srgbClr val="444444"/>
                </a:solidFill>
              </a:rPr>
              <a:t>Governance Agent     </a:t>
            </a:r>
            <a:r>
              <a:rPr sz="1000">
                <a:solidFill>
                  <a:srgbClr val="059669"/>
                </a:solidFill>
              </a:rPr>
              <a:t>■ </a:t>
            </a:r>
            <a:r>
              <a:rPr sz="1000">
                <a:solidFill>
                  <a:srgbClr val="444444"/>
                </a:solidFill>
              </a:rPr>
              <a:t>Solution Architect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How Governance Works</a:t>
            </a:r>
          </a:p>
        </p:txBody>
      </p:sp>
      <p:sp>
        <p:nvSpPr>
          <p:cNvPr id="3" name="Rectangle 2"/>
          <p:cNvSpPr/>
          <p:nvPr/>
        </p:nvSpPr>
        <p:spPr>
          <a:xfrm>
            <a:off x="2182799" y="4740510"/>
            <a:ext cx="7826095" cy="1401644"/>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Step 3: Consolidate</a:t>
            </a:r>
          </a:p>
        </p:txBody>
      </p:sp>
      <p:sp>
        <p:nvSpPr>
          <p:cNvPr id="4" name="Rectangle 3"/>
          <p:cNvSpPr/>
          <p:nvPr/>
        </p:nvSpPr>
        <p:spPr>
          <a:xfrm>
            <a:off x="1407618" y="2865337"/>
            <a:ext cx="9376457" cy="1401644"/>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Step 2: Parallel Validation</a:t>
            </a:r>
          </a:p>
        </p:txBody>
      </p:sp>
      <p:sp>
        <p:nvSpPr>
          <p:cNvPr id="5" name="Rectangle 4"/>
          <p:cNvSpPr/>
          <p:nvPr/>
        </p:nvSpPr>
        <p:spPr>
          <a:xfrm>
            <a:off x="981738" y="990164"/>
            <a:ext cx="10228217" cy="1401644"/>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Step 1: Trigger &amp; Ingest</a:t>
            </a:r>
          </a:p>
        </p:txBody>
      </p:sp>
      <p:cxnSp>
        <p:nvCxnSpPr>
          <p:cNvPr id="6" name="Connector 5"/>
          <p:cNvCxnSpPr/>
          <p:nvPr/>
        </p:nvCxnSpPr>
        <p:spPr>
          <a:xfrm>
            <a:off x="6095847" y="2391809"/>
            <a:ext cx="0" cy="473528"/>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5847" y="4266982"/>
            <a:ext cx="0" cy="473528"/>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366358" y="5441333"/>
            <a:ext cx="710292"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161656" y="5441333"/>
            <a:ext cx="7102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182462" y="1690986"/>
            <a:ext cx="7102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30671" y="1690986"/>
            <a:ext cx="7102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339928" y="1690986"/>
            <a:ext cx="7102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37945" y="5071980"/>
            <a:ext cx="1828412" cy="738704"/>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Merge Reports(weighted scoring)</a:t>
            </a:r>
          </a:p>
        </p:txBody>
      </p:sp>
      <p:sp>
        <p:nvSpPr>
          <p:cNvPr id="14" name="Rounded Rectangle 13"/>
          <p:cNvSpPr/>
          <p:nvPr/>
        </p:nvSpPr>
        <p:spPr>
          <a:xfrm>
            <a:off x="5076650" y="5071980"/>
            <a:ext cx="2085005" cy="738704"/>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 ScorecardPASS / WARN / FAIL</a:t>
            </a:r>
          </a:p>
        </p:txBody>
      </p:sp>
      <p:sp>
        <p:nvSpPr>
          <p:cNvPr id="15" name="Rounded Rectangle 14"/>
          <p:cNvSpPr/>
          <p:nvPr/>
        </p:nvSpPr>
        <p:spPr>
          <a:xfrm>
            <a:off x="7871949" y="5185627"/>
            <a:ext cx="1781799" cy="511410"/>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Solution Architect</a:t>
            </a:r>
          </a:p>
        </p:txBody>
      </p:sp>
      <p:sp>
        <p:nvSpPr>
          <p:cNvPr id="16" name="Rounded Rectangle 15"/>
          <p:cNvSpPr/>
          <p:nvPr/>
        </p:nvSpPr>
        <p:spPr>
          <a:xfrm>
            <a:off x="1762764" y="3196807"/>
            <a:ext cx="1559388" cy="738704"/>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Patterns Agent(30% weight)</a:t>
            </a:r>
          </a:p>
        </p:txBody>
      </p:sp>
      <p:sp>
        <p:nvSpPr>
          <p:cNvPr id="17" name="Rounded Rectangle 16"/>
          <p:cNvSpPr/>
          <p:nvPr/>
        </p:nvSpPr>
        <p:spPr>
          <a:xfrm>
            <a:off x="4032446" y="3196807"/>
            <a:ext cx="1660605" cy="738704"/>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Standards Agent(30% weight)</a:t>
            </a:r>
          </a:p>
        </p:txBody>
      </p:sp>
      <p:sp>
        <p:nvSpPr>
          <p:cNvPr id="18" name="Rounded Rectangle 17"/>
          <p:cNvSpPr/>
          <p:nvPr/>
        </p:nvSpPr>
        <p:spPr>
          <a:xfrm>
            <a:off x="6403344" y="3196807"/>
            <a:ext cx="1546810" cy="738704"/>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Security Agent(40% weight)</a:t>
            </a:r>
          </a:p>
        </p:txBody>
      </p:sp>
      <p:sp>
        <p:nvSpPr>
          <p:cNvPr id="19" name="Rounded Rectangle 18"/>
          <p:cNvSpPr/>
          <p:nvPr/>
        </p:nvSpPr>
        <p:spPr>
          <a:xfrm>
            <a:off x="8660448" y="3196807"/>
            <a:ext cx="1768481" cy="738704"/>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Contributed Skills(auto-discovered)</a:t>
            </a:r>
          </a:p>
        </p:txBody>
      </p:sp>
      <p:sp>
        <p:nvSpPr>
          <p:cNvPr id="20" name="Rounded Rectangle 19"/>
          <p:cNvSpPr/>
          <p:nvPr/>
        </p:nvSpPr>
        <p:spPr>
          <a:xfrm>
            <a:off x="1336885" y="1321634"/>
            <a:ext cx="1845577" cy="738704"/>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Solution Architectcommits to GitHub</a:t>
            </a:r>
          </a:p>
        </p:txBody>
      </p:sp>
      <p:sp>
        <p:nvSpPr>
          <p:cNvPr id="21" name="Rounded Rectangle 20"/>
          <p:cNvSpPr/>
          <p:nvPr/>
        </p:nvSpPr>
        <p:spPr>
          <a:xfrm>
            <a:off x="3892755" y="1321634"/>
            <a:ext cx="1937915" cy="738704"/>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GitHub triggersgovernance pipeline</a:t>
            </a:r>
          </a:p>
        </p:txBody>
      </p:sp>
      <p:sp>
        <p:nvSpPr>
          <p:cNvPr id="22" name="Rounded Rectangle 21"/>
          <p:cNvSpPr/>
          <p:nvPr/>
        </p:nvSpPr>
        <p:spPr>
          <a:xfrm>
            <a:off x="6540964" y="1321634"/>
            <a:ext cx="1798964" cy="738704"/>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 Agent(orchestrator)</a:t>
            </a:r>
          </a:p>
        </p:txBody>
      </p:sp>
      <p:sp>
        <p:nvSpPr>
          <p:cNvPr id="23" name="Rounded Rectangle 22"/>
          <p:cNvSpPr/>
          <p:nvPr/>
        </p:nvSpPr>
        <p:spPr>
          <a:xfrm>
            <a:off x="9050221" y="1321634"/>
            <a:ext cx="1804587" cy="738704"/>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Ingestion Agentparses &amp; validates</a:t>
            </a:r>
          </a:p>
        </p:txBody>
      </p:sp>
      <p:sp>
        <p:nvSpPr>
          <p:cNvPr id="24" name="TextBox 23"/>
          <p:cNvSpPr txBox="1"/>
          <p:nvPr/>
        </p:nvSpPr>
        <p:spPr>
          <a:xfrm>
            <a:off x="457200" y="6126480"/>
            <a:ext cx="11277295" cy="365760"/>
          </a:xfrm>
          <a:prstGeom prst="rect">
            <a:avLst/>
          </a:prstGeom>
          <a:noFill/>
        </p:spPr>
        <p:txBody>
          <a:bodyPr wrap="square">
            <a:spAutoFit/>
          </a:bodyPr>
          <a:lstStyle/>
          <a:p>
            <a:pPr algn="r"/>
            <a:r>
              <a:rPr sz="1000">
                <a:solidFill>
                  <a:srgbClr val="059669"/>
                </a:solidFill>
              </a:rPr>
              <a:t>■ </a:t>
            </a:r>
            <a:r>
              <a:rPr sz="1000">
                <a:solidFill>
                  <a:srgbClr val="444444"/>
                </a:solidFill>
              </a:rPr>
              <a:t>Architect     </a:t>
            </a:r>
            <a:r>
              <a:rPr sz="1000">
                <a:solidFill>
                  <a:srgbClr val="0891B2"/>
                </a:solidFill>
              </a:rPr>
              <a:t>■ </a:t>
            </a:r>
            <a:r>
              <a:rPr sz="1000">
                <a:solidFill>
                  <a:srgbClr val="444444"/>
                </a:solidFill>
              </a:rPr>
              <a:t>Infrastructure     </a:t>
            </a:r>
            <a:r>
              <a:rPr sz="1000">
                <a:solidFill>
                  <a:srgbClr val="D97706"/>
                </a:solidFill>
              </a:rPr>
              <a:t>■ </a:t>
            </a:r>
            <a:r>
              <a:rPr sz="1000">
                <a:solidFill>
                  <a:srgbClr val="444444"/>
                </a:solidFill>
              </a:rPr>
              <a:t>Pipeline     </a:t>
            </a:r>
            <a:r>
              <a:rPr sz="1000">
                <a:solidFill>
                  <a:srgbClr val="2563EB"/>
                </a:solidFill>
              </a:rPr>
              <a:t>■ </a:t>
            </a:r>
            <a:r>
              <a:rPr sz="1000">
                <a:solidFill>
                  <a:srgbClr val="444444"/>
                </a:solidFill>
              </a:rPr>
              <a:t>Validation Agents     </a:t>
            </a:r>
            <a:r>
              <a:rPr sz="1000">
                <a:solidFill>
                  <a:srgbClr val="7C3AED"/>
                </a:solidFill>
              </a:rPr>
              <a:t>■ </a:t>
            </a:r>
            <a:r>
              <a:rPr sz="1000">
                <a:solidFill>
                  <a:srgbClr val="444444"/>
                </a:solidFill>
              </a:rPr>
              <a:t>Contributed Skills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System of Record and Sync Strategy</a:t>
            </a:r>
          </a:p>
        </p:txBody>
      </p:sp>
      <p:sp>
        <p:nvSpPr>
          <p:cNvPr id="3" name="Rectangle 2"/>
          <p:cNvSpPr/>
          <p:nvPr/>
        </p:nvSpPr>
        <p:spPr>
          <a:xfrm>
            <a:off x="7267435" y="2340924"/>
            <a:ext cx="2247266" cy="245047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Auto-Published Views</a:t>
            </a:r>
          </a:p>
        </p:txBody>
      </p:sp>
      <p:sp>
        <p:nvSpPr>
          <p:cNvPr id="4" name="Rectangle 3"/>
          <p:cNvSpPr/>
          <p:nvPr/>
        </p:nvSpPr>
        <p:spPr>
          <a:xfrm>
            <a:off x="3426874" y="1824403"/>
            <a:ext cx="2529238" cy="3483513"/>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Source of Truth</a:t>
            </a:r>
          </a:p>
        </p:txBody>
      </p:sp>
      <p:sp>
        <p:nvSpPr>
          <p:cNvPr id="5" name="Rectangle 4"/>
          <p:cNvSpPr/>
          <p:nvPr/>
        </p:nvSpPr>
        <p:spPr>
          <a:xfrm>
            <a:off x="338384" y="2533118"/>
            <a:ext cx="2255775" cy="2066083"/>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Architect Authors</a:t>
            </a:r>
          </a:p>
        </p:txBody>
      </p:sp>
      <p:cxnSp>
        <p:nvCxnSpPr>
          <p:cNvPr id="6" name="Connector 5"/>
          <p:cNvCxnSpPr/>
          <p:nvPr/>
        </p:nvCxnSpPr>
        <p:spPr>
          <a:xfrm>
            <a:off x="2594159" y="3566160"/>
            <a:ext cx="83271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956112" y="3566160"/>
            <a:ext cx="131132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514701" y="3566160"/>
            <a:ext cx="1124384"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712607" y="2557142"/>
            <a:ext cx="254508" cy="600606"/>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289160" y="2557142"/>
            <a:ext cx="42970" cy="1825842"/>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466272" y="3265857"/>
            <a:ext cx="0" cy="600606"/>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108561" y="3310043"/>
            <a:ext cx="1371600" cy="320040"/>
          </a:xfrm>
          <a:prstGeom prst="rect">
            <a:avLst/>
          </a:prstGeom>
          <a:noFill/>
        </p:spPr>
        <p:txBody>
          <a:bodyPr wrap="square">
            <a:spAutoFit/>
          </a:bodyPr>
          <a:lstStyle/>
          <a:p>
            <a:pPr algn="ctr">
              <a:defRPr sz="900">
                <a:solidFill>
                  <a:srgbClr val="333333"/>
                </a:solidFill>
              </a:defRPr>
            </a:pPr>
            <a:r>
              <a:t>commit</a:t>
            </a:r>
          </a:p>
        </p:txBody>
      </p:sp>
      <p:sp>
        <p:nvSpPr>
          <p:cNvPr id="13" name="TextBox 12"/>
          <p:cNvSpPr txBox="1"/>
          <p:nvPr/>
        </p:nvSpPr>
        <p:spPr>
          <a:xfrm>
            <a:off x="5470514" y="3213946"/>
            <a:ext cx="1371600" cy="320040"/>
          </a:xfrm>
          <a:prstGeom prst="rect">
            <a:avLst/>
          </a:prstGeom>
          <a:noFill/>
        </p:spPr>
        <p:txBody>
          <a:bodyPr wrap="square">
            <a:spAutoFit/>
          </a:bodyPr>
          <a:lstStyle/>
          <a:p>
            <a:pPr algn="ctr">
              <a:defRPr sz="900">
                <a:solidFill>
                  <a:srgbClr val="333333"/>
                </a:solidFill>
              </a:defRPr>
            </a:pPr>
            <a:r>
              <a:t>CI/CD on merge(one-way sync)</a:t>
            </a:r>
          </a:p>
        </p:txBody>
      </p:sp>
      <p:sp>
        <p:nvSpPr>
          <p:cNvPr id="14" name="TextBox 13"/>
          <p:cNvSpPr txBox="1"/>
          <p:nvPr/>
        </p:nvSpPr>
        <p:spPr>
          <a:xfrm>
            <a:off x="9029103" y="3213946"/>
            <a:ext cx="1371600" cy="320040"/>
          </a:xfrm>
          <a:prstGeom prst="rect">
            <a:avLst/>
          </a:prstGeom>
          <a:noFill/>
        </p:spPr>
        <p:txBody>
          <a:bodyPr wrap="square">
            <a:spAutoFit/>
          </a:bodyPr>
          <a:lstStyle/>
          <a:p>
            <a:pPr algn="ctr">
              <a:defRPr sz="900">
                <a:solidFill>
                  <a:srgbClr val="333333"/>
                </a:solidFill>
              </a:defRPr>
            </a:pPr>
            <a:r>
              <a:t>stakeholdersview here</a:t>
            </a:r>
          </a:p>
        </p:txBody>
      </p:sp>
      <p:sp>
        <p:nvSpPr>
          <p:cNvPr id="15" name="Rounded Rectangle 14"/>
          <p:cNvSpPr/>
          <p:nvPr/>
        </p:nvSpPr>
        <p:spPr>
          <a:xfrm>
            <a:off x="7631364" y="2641227"/>
            <a:ext cx="1519407" cy="624629"/>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Confluence(read-only mirror)</a:t>
            </a:r>
          </a:p>
        </p:txBody>
      </p:sp>
      <p:sp>
        <p:nvSpPr>
          <p:cNvPr id="16" name="Rounded Rectangle 15"/>
          <p:cNvSpPr/>
          <p:nvPr/>
        </p:nvSpPr>
        <p:spPr>
          <a:xfrm>
            <a:off x="7547718" y="3866463"/>
            <a:ext cx="1686701" cy="624629"/>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DevDocs / Static Site(visualization)</a:t>
            </a:r>
          </a:p>
        </p:txBody>
      </p:sp>
      <p:sp>
        <p:nvSpPr>
          <p:cNvPr id="17" name="Rounded Rectangle 16"/>
          <p:cNvSpPr/>
          <p:nvPr/>
        </p:nvSpPr>
        <p:spPr>
          <a:xfrm>
            <a:off x="3770033" y="2124706"/>
            <a:ext cx="1518656" cy="432436"/>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GitHub Repository</a:t>
            </a:r>
          </a:p>
        </p:txBody>
      </p:sp>
      <p:sp>
        <p:nvSpPr>
          <p:cNvPr id="18" name="Rounded Rectangle 17"/>
          <p:cNvSpPr/>
          <p:nvPr/>
        </p:nvSpPr>
        <p:spPr>
          <a:xfrm>
            <a:off x="4371890" y="3157748"/>
            <a:ext cx="1190450" cy="624629"/>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Commits= Audit Trail</a:t>
            </a:r>
          </a:p>
        </p:txBody>
      </p:sp>
      <p:sp>
        <p:nvSpPr>
          <p:cNvPr id="19" name="Rounded Rectangle 18"/>
          <p:cNvSpPr/>
          <p:nvPr/>
        </p:nvSpPr>
        <p:spPr>
          <a:xfrm>
            <a:off x="3707157" y="4382984"/>
            <a:ext cx="1644408" cy="624629"/>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 Agentvalidates on commit</a:t>
            </a:r>
          </a:p>
        </p:txBody>
      </p:sp>
      <p:sp>
        <p:nvSpPr>
          <p:cNvPr id="20" name="Rounded Rectangle 19"/>
          <p:cNvSpPr/>
          <p:nvPr/>
        </p:nvSpPr>
        <p:spPr>
          <a:xfrm>
            <a:off x="763751" y="2833421"/>
            <a:ext cx="1405042" cy="432436"/>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Editor of Choice</a:t>
            </a:r>
          </a:p>
        </p:txBody>
      </p:sp>
      <p:sp>
        <p:nvSpPr>
          <p:cNvPr id="21" name="Rounded Rectangle 20"/>
          <p:cNvSpPr/>
          <p:nvPr/>
        </p:nvSpPr>
        <p:spPr>
          <a:xfrm>
            <a:off x="618667" y="3866463"/>
            <a:ext cx="1695209" cy="432436"/>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Markdown + Mermaid</a:t>
            </a:r>
          </a:p>
        </p:txBody>
      </p:sp>
      <p:sp>
        <p:nvSpPr>
          <p:cNvPr id="22" name="Rounded Rectangle 21"/>
          <p:cNvSpPr/>
          <p:nvPr/>
        </p:nvSpPr>
        <p:spPr>
          <a:xfrm>
            <a:off x="10639085" y="3349942"/>
            <a:ext cx="1214224" cy="432436"/>
          </a:xfrm>
          <a:prstGeom prst="roundRect">
            <a:avLst/>
          </a:prstGeom>
          <a:solidFill>
            <a:srgbClr val="6B7280"/>
          </a:solidFill>
          <a:ln w="12700">
            <a:solidFill>
              <a:srgbClr val="4B556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Stakeholders</a:t>
            </a:r>
          </a:p>
        </p:txBody>
      </p:sp>
      <p:sp>
        <p:nvSpPr>
          <p:cNvPr id="23" name="TextBox 22"/>
          <p:cNvSpPr txBox="1"/>
          <p:nvPr/>
        </p:nvSpPr>
        <p:spPr>
          <a:xfrm>
            <a:off x="457200" y="6126480"/>
            <a:ext cx="11277295" cy="365760"/>
          </a:xfrm>
          <a:prstGeom prst="rect">
            <a:avLst/>
          </a:prstGeom>
          <a:noFill/>
        </p:spPr>
        <p:txBody>
          <a:bodyPr wrap="square">
            <a:spAutoFit/>
          </a:bodyPr>
          <a:lstStyle/>
          <a:p>
            <a:pPr algn="r"/>
            <a:r>
              <a:rPr sz="1000">
                <a:solidFill>
                  <a:srgbClr val="059669"/>
                </a:solidFill>
              </a:rPr>
              <a:t>■ </a:t>
            </a:r>
            <a:r>
              <a:rPr sz="1000">
                <a:solidFill>
                  <a:srgbClr val="444444"/>
                </a:solidFill>
              </a:rPr>
              <a:t>Architect     </a:t>
            </a:r>
            <a:r>
              <a:rPr sz="1000">
                <a:solidFill>
                  <a:srgbClr val="0891B2"/>
                </a:solidFill>
              </a:rPr>
              <a:t>■ </a:t>
            </a:r>
            <a:r>
              <a:rPr sz="1000">
                <a:solidFill>
                  <a:srgbClr val="444444"/>
                </a:solidFill>
              </a:rPr>
              <a:t>Infrastructure     </a:t>
            </a:r>
            <a:r>
              <a:rPr sz="1000">
                <a:solidFill>
                  <a:srgbClr val="D97706"/>
                </a:solidFill>
              </a:rPr>
              <a:t>■ </a:t>
            </a:r>
            <a:r>
              <a:rPr sz="1000">
                <a:solidFill>
                  <a:srgbClr val="444444"/>
                </a:solidFill>
              </a:rPr>
              <a:t>Governance     </a:t>
            </a:r>
            <a:r>
              <a:rPr sz="1000">
                <a:solidFill>
                  <a:srgbClr val="7C3AED"/>
                </a:solidFill>
              </a:rPr>
              <a:t>■ </a:t>
            </a:r>
            <a:r>
              <a:rPr sz="1000">
                <a:solidFill>
                  <a:srgbClr val="444444"/>
                </a:solidFill>
              </a:rPr>
              <a:t>Publishing     </a:t>
            </a:r>
            <a:r>
              <a:rPr sz="1000">
                <a:solidFill>
                  <a:srgbClr val="6B7280"/>
                </a:solidFill>
              </a:rPr>
              <a:t>■ </a:t>
            </a:r>
            <a:r>
              <a:rPr sz="1000">
                <a:solidFill>
                  <a:srgbClr val="444444"/>
                </a:solidFill>
              </a:rPr>
              <a:t>Stakeholders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Confluence Migration Path</a:t>
            </a:r>
          </a:p>
        </p:txBody>
      </p:sp>
      <p:sp>
        <p:nvSpPr>
          <p:cNvPr id="3" name="Rectangle 2"/>
          <p:cNvSpPr/>
          <p:nvPr/>
        </p:nvSpPr>
        <p:spPr>
          <a:xfrm>
            <a:off x="326441" y="2204497"/>
            <a:ext cx="11538812" cy="1120603"/>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Track B: Existing Confluence Content</a:t>
            </a:r>
          </a:p>
        </p:txBody>
      </p:sp>
      <p:sp>
        <p:nvSpPr>
          <p:cNvPr id="4" name="Rectangle 3"/>
          <p:cNvSpPr/>
          <p:nvPr/>
        </p:nvSpPr>
        <p:spPr>
          <a:xfrm>
            <a:off x="2904296" y="3963583"/>
            <a:ext cx="6383101" cy="964239"/>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Track A: New Content</a:t>
            </a:r>
          </a:p>
        </p:txBody>
      </p:sp>
      <p:cxnSp>
        <p:nvCxnSpPr>
          <p:cNvPr id="5" name="Connector 4"/>
          <p:cNvCxnSpPr/>
          <p:nvPr/>
        </p:nvCxnSpPr>
        <p:spPr>
          <a:xfrm>
            <a:off x="6095847" y="3325100"/>
            <a:ext cx="0" cy="638483"/>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705410" y="2764798"/>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467041" y="2764798"/>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271937" y="2764798"/>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038251" y="2764798"/>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408873" y="2764798"/>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840472" y="2764798"/>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645873" y="4445703"/>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16495" y="4445703"/>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48094" y="4445703"/>
            <a:ext cx="488635"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141858" y="3327958"/>
            <a:ext cx="1371600" cy="320040"/>
          </a:xfrm>
          <a:prstGeom prst="rect">
            <a:avLst/>
          </a:prstGeom>
          <a:noFill/>
        </p:spPr>
        <p:txBody>
          <a:bodyPr wrap="square">
            <a:spAutoFit/>
          </a:bodyPr>
          <a:lstStyle/>
          <a:p>
            <a:pPr algn="ctr">
              <a:defRPr sz="900">
                <a:solidFill>
                  <a:srgbClr val="333333"/>
                </a:solidFill>
              </a:defRPr>
            </a:pPr>
            <a:r>
              <a:t>after initialmigration</a:t>
            </a:r>
          </a:p>
        </p:txBody>
      </p:sp>
      <p:sp>
        <p:nvSpPr>
          <p:cNvPr id="16" name="Rounded Rectangle 15"/>
          <p:cNvSpPr/>
          <p:nvPr/>
        </p:nvSpPr>
        <p:spPr>
          <a:xfrm>
            <a:off x="570758" y="2510708"/>
            <a:ext cx="1134651" cy="508180"/>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Ingestion tooldownloads page</a:t>
            </a:r>
          </a:p>
        </p:txBody>
      </p:sp>
      <p:sp>
        <p:nvSpPr>
          <p:cNvPr id="17" name="Rounded Rectangle 16"/>
          <p:cNvSpPr/>
          <p:nvPr/>
        </p:nvSpPr>
        <p:spPr>
          <a:xfrm>
            <a:off x="2194045" y="2510708"/>
            <a:ext cx="1272996" cy="508180"/>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Auto-convertHTML to Markdown</a:t>
            </a:r>
          </a:p>
        </p:txBody>
      </p:sp>
      <p:sp>
        <p:nvSpPr>
          <p:cNvPr id="18" name="Rounded Rectangle 17"/>
          <p:cNvSpPr/>
          <p:nvPr/>
        </p:nvSpPr>
        <p:spPr>
          <a:xfrm>
            <a:off x="3955676" y="2432526"/>
            <a:ext cx="1316260" cy="664543"/>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Diagrams convertedDraw.io/PlantUMLto Mermaid</a:t>
            </a:r>
          </a:p>
        </p:txBody>
      </p:sp>
      <p:sp>
        <p:nvSpPr>
          <p:cNvPr id="19" name="Rounded Rectangle 18"/>
          <p:cNvSpPr/>
          <p:nvPr/>
        </p:nvSpPr>
        <p:spPr>
          <a:xfrm>
            <a:off x="5760572" y="2510708"/>
            <a:ext cx="1277679" cy="508180"/>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SME reviewsconverted baseline</a:t>
            </a:r>
          </a:p>
        </p:txBody>
      </p:sp>
      <p:sp>
        <p:nvSpPr>
          <p:cNvPr id="20" name="Rounded Rectangle 19"/>
          <p:cNvSpPr/>
          <p:nvPr/>
        </p:nvSpPr>
        <p:spPr>
          <a:xfrm>
            <a:off x="7526886" y="2510708"/>
            <a:ext cx="881986" cy="508180"/>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Commit toGitHub</a:t>
            </a:r>
          </a:p>
        </p:txBody>
      </p:sp>
      <p:sp>
        <p:nvSpPr>
          <p:cNvPr id="21" name="Rounded Rectangle 20"/>
          <p:cNvSpPr/>
          <p:nvPr/>
        </p:nvSpPr>
        <p:spPr>
          <a:xfrm>
            <a:off x="8897508" y="2510708"/>
            <a:ext cx="942963" cy="508180"/>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Governancevalidates</a:t>
            </a:r>
          </a:p>
        </p:txBody>
      </p:sp>
      <p:sp>
        <p:nvSpPr>
          <p:cNvPr id="22" name="Rounded Rectangle 21"/>
          <p:cNvSpPr/>
          <p:nvPr/>
        </p:nvSpPr>
        <p:spPr>
          <a:xfrm>
            <a:off x="10329107" y="2510708"/>
            <a:ext cx="1291829" cy="508180"/>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Auto-publishback to Confluence</a:t>
            </a:r>
          </a:p>
        </p:txBody>
      </p:sp>
      <p:sp>
        <p:nvSpPr>
          <p:cNvPr id="23" name="Rounded Rectangle 22"/>
          <p:cNvSpPr/>
          <p:nvPr/>
        </p:nvSpPr>
        <p:spPr>
          <a:xfrm>
            <a:off x="3148614" y="4191613"/>
            <a:ext cx="1497259" cy="508180"/>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Author nativelyin Markdown + Mermaid</a:t>
            </a:r>
          </a:p>
        </p:txBody>
      </p:sp>
      <p:sp>
        <p:nvSpPr>
          <p:cNvPr id="24" name="Rounded Rectangle 23"/>
          <p:cNvSpPr/>
          <p:nvPr/>
        </p:nvSpPr>
        <p:spPr>
          <a:xfrm>
            <a:off x="5134508" y="4191613"/>
            <a:ext cx="881986" cy="508180"/>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Commit toGitHub</a:t>
            </a:r>
          </a:p>
        </p:txBody>
      </p:sp>
      <p:sp>
        <p:nvSpPr>
          <p:cNvPr id="25" name="Rounded Rectangle 24"/>
          <p:cNvSpPr/>
          <p:nvPr/>
        </p:nvSpPr>
        <p:spPr>
          <a:xfrm>
            <a:off x="6505130" y="4191613"/>
            <a:ext cx="942963" cy="508180"/>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Governancevalidates</a:t>
            </a:r>
          </a:p>
        </p:txBody>
      </p:sp>
      <p:sp>
        <p:nvSpPr>
          <p:cNvPr id="26" name="Rounded Rectangle 25"/>
          <p:cNvSpPr/>
          <p:nvPr/>
        </p:nvSpPr>
        <p:spPr>
          <a:xfrm>
            <a:off x="7936729" y="4191613"/>
            <a:ext cx="1106351" cy="508180"/>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Auto-publish toConfluence</a:t>
            </a:r>
          </a:p>
        </p:txBody>
      </p:sp>
      <p:sp>
        <p:nvSpPr>
          <p:cNvPr id="27" name="TextBox 26"/>
          <p:cNvSpPr txBox="1"/>
          <p:nvPr/>
        </p:nvSpPr>
        <p:spPr>
          <a:xfrm>
            <a:off x="457200" y="6126480"/>
            <a:ext cx="11277295" cy="365760"/>
          </a:xfrm>
          <a:prstGeom prst="rect">
            <a:avLst/>
          </a:prstGeom>
          <a:noFill/>
        </p:spPr>
        <p:txBody>
          <a:bodyPr wrap="square">
            <a:spAutoFit/>
          </a:bodyPr>
          <a:lstStyle/>
          <a:p>
            <a:pPr algn="r"/>
            <a:r>
              <a:rPr sz="1000">
                <a:solidFill>
                  <a:srgbClr val="059669"/>
                </a:solidFill>
              </a:rPr>
              <a:t>■ </a:t>
            </a:r>
            <a:r>
              <a:rPr sz="1000">
                <a:solidFill>
                  <a:srgbClr val="444444"/>
                </a:solidFill>
              </a:rPr>
              <a:t>New Content     </a:t>
            </a:r>
            <a:r>
              <a:rPr sz="1000">
                <a:solidFill>
                  <a:srgbClr val="2563EB"/>
                </a:solidFill>
              </a:rPr>
              <a:t>■ </a:t>
            </a:r>
            <a:r>
              <a:rPr sz="1000">
                <a:solidFill>
                  <a:srgbClr val="444444"/>
                </a:solidFill>
              </a:rPr>
              <a:t>Migration     </a:t>
            </a:r>
            <a:r>
              <a:rPr sz="1000">
                <a:solidFill>
                  <a:srgbClr val="D97706"/>
                </a:solidFill>
              </a:rPr>
              <a:t>■ </a:t>
            </a:r>
            <a:r>
              <a:rPr sz="1000">
                <a:solidFill>
                  <a:srgbClr val="444444"/>
                </a:solidFill>
              </a:rPr>
              <a:t>Governance     </a:t>
            </a:r>
            <a:r>
              <a:rPr sz="1000">
                <a:solidFill>
                  <a:srgbClr val="7C3AED"/>
                </a:solidFill>
              </a:rPr>
              <a:t>■ </a:t>
            </a:r>
            <a:r>
              <a:rPr sz="1000">
                <a:solidFill>
                  <a:srgbClr val="444444"/>
                </a:solidFill>
              </a:rPr>
              <a:t>Publishing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Business Benefits</a:t>
            </a:r>
          </a:p>
        </p:txBody>
      </p:sp>
      <p:sp>
        <p:nvSpPr>
          <p:cNvPr id="3" name="Rectangle 2"/>
          <p:cNvSpPr/>
          <p:nvPr/>
        </p:nvSpPr>
        <p:spPr>
          <a:xfrm>
            <a:off x="9793413" y="1917109"/>
            <a:ext cx="2066478" cy="329810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Stakeholder Communication</a:t>
            </a:r>
          </a:p>
        </p:txBody>
      </p:sp>
      <p:sp>
        <p:nvSpPr>
          <p:cNvPr id="4" name="Rectangle 3"/>
          <p:cNvSpPr/>
          <p:nvPr/>
        </p:nvSpPr>
        <p:spPr>
          <a:xfrm>
            <a:off x="7763086" y="1917109"/>
            <a:ext cx="1671056" cy="329810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Traceability</a:t>
            </a:r>
          </a:p>
        </p:txBody>
      </p:sp>
      <p:sp>
        <p:nvSpPr>
          <p:cNvPr id="5" name="Rectangle 4"/>
          <p:cNvSpPr/>
          <p:nvPr/>
        </p:nvSpPr>
        <p:spPr>
          <a:xfrm>
            <a:off x="5135921" y="1917109"/>
            <a:ext cx="2267894" cy="329810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Scalable Governance</a:t>
            </a:r>
          </a:p>
        </p:txBody>
      </p:sp>
      <p:sp>
        <p:nvSpPr>
          <p:cNvPr id="6" name="Rectangle 5"/>
          <p:cNvSpPr/>
          <p:nvPr/>
        </p:nvSpPr>
        <p:spPr>
          <a:xfrm>
            <a:off x="2824578" y="1917109"/>
            <a:ext cx="1952073" cy="329810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LLM-Ready</a:t>
            </a:r>
          </a:p>
        </p:txBody>
      </p:sp>
      <p:sp>
        <p:nvSpPr>
          <p:cNvPr id="7" name="Rectangle 6"/>
          <p:cNvSpPr/>
          <p:nvPr/>
        </p:nvSpPr>
        <p:spPr>
          <a:xfrm>
            <a:off x="331803" y="1830884"/>
            <a:ext cx="2133504" cy="347055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Enforcement</a:t>
            </a:r>
          </a:p>
        </p:txBody>
      </p:sp>
      <p:sp>
        <p:nvSpPr>
          <p:cNvPr id="8" name="Rounded Rectangle 7"/>
          <p:cNvSpPr/>
          <p:nvPr/>
        </p:nvSpPr>
        <p:spPr>
          <a:xfrm>
            <a:off x="10044902" y="2186561"/>
            <a:ext cx="1563499" cy="560461"/>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Auto-publish toConfluence / DevDocs</a:t>
            </a:r>
          </a:p>
        </p:txBody>
      </p:sp>
      <p:sp>
        <p:nvSpPr>
          <p:cNvPr id="9" name="Rounded Rectangle 8"/>
          <p:cNvSpPr/>
          <p:nvPr/>
        </p:nvSpPr>
        <p:spPr>
          <a:xfrm>
            <a:off x="10141961" y="3285929"/>
            <a:ext cx="1369381" cy="560461"/>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Mermaid diagramsrender natively</a:t>
            </a:r>
          </a:p>
        </p:txBody>
      </p:sp>
      <p:sp>
        <p:nvSpPr>
          <p:cNvPr id="10" name="Rounded Rectangle 9"/>
          <p:cNvSpPr/>
          <p:nvPr/>
        </p:nvSpPr>
        <p:spPr>
          <a:xfrm>
            <a:off x="10106203" y="4385296"/>
            <a:ext cx="1440898" cy="560461"/>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Architecture visibleto all stakeholders</a:t>
            </a:r>
          </a:p>
        </p:txBody>
      </p:sp>
      <p:sp>
        <p:nvSpPr>
          <p:cNvPr id="11" name="Rounded Rectangle 10"/>
          <p:cNvSpPr/>
          <p:nvPr/>
        </p:nvSpPr>
        <p:spPr>
          <a:xfrm>
            <a:off x="8020357" y="2186561"/>
            <a:ext cx="1156513" cy="560461"/>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commits =full audit trail</a:t>
            </a:r>
          </a:p>
        </p:txBody>
      </p:sp>
      <p:sp>
        <p:nvSpPr>
          <p:cNvPr id="12" name="Rounded Rectangle 11"/>
          <p:cNvSpPr/>
          <p:nvPr/>
        </p:nvSpPr>
        <p:spPr>
          <a:xfrm>
            <a:off x="8014575" y="3285929"/>
            <a:ext cx="1168077" cy="560461"/>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Every decisionis versioned</a:t>
            </a:r>
          </a:p>
        </p:txBody>
      </p:sp>
      <p:sp>
        <p:nvSpPr>
          <p:cNvPr id="13" name="Rounded Rectangle 12"/>
          <p:cNvSpPr/>
          <p:nvPr/>
        </p:nvSpPr>
        <p:spPr>
          <a:xfrm>
            <a:off x="8026308" y="4385296"/>
            <a:ext cx="1144612" cy="560461"/>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Compliance isquantifiable</a:t>
            </a:r>
          </a:p>
        </p:txBody>
      </p:sp>
      <p:sp>
        <p:nvSpPr>
          <p:cNvPr id="14" name="Rounded Rectangle 13"/>
          <p:cNvSpPr/>
          <p:nvPr/>
        </p:nvSpPr>
        <p:spPr>
          <a:xfrm>
            <a:off x="5608418" y="2186561"/>
            <a:ext cx="1322900" cy="560461"/>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Teams contributerules as skills</a:t>
            </a:r>
          </a:p>
        </p:txBody>
      </p:sp>
      <p:sp>
        <p:nvSpPr>
          <p:cNvPr id="15" name="Rounded Rectangle 14"/>
          <p:cNvSpPr/>
          <p:nvPr/>
        </p:nvSpPr>
        <p:spPr>
          <a:xfrm>
            <a:off x="5387411" y="3285929"/>
            <a:ext cx="1764915" cy="560461"/>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Inner Sourcing +SIG/Working Group model</a:t>
            </a:r>
          </a:p>
        </p:txBody>
      </p:sp>
      <p:sp>
        <p:nvSpPr>
          <p:cNvPr id="16" name="Rounded Rectangle 15"/>
          <p:cNvSpPr/>
          <p:nvPr/>
        </p:nvSpPr>
        <p:spPr>
          <a:xfrm>
            <a:off x="5596854" y="4385296"/>
            <a:ext cx="1346028" cy="560461"/>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Zero coordinationafter initial setup</a:t>
            </a:r>
          </a:p>
        </p:txBody>
      </p:sp>
      <p:sp>
        <p:nvSpPr>
          <p:cNvPr id="17" name="Rounded Rectangle 16"/>
          <p:cNvSpPr/>
          <p:nvPr/>
        </p:nvSpPr>
        <p:spPr>
          <a:xfrm>
            <a:off x="3120527" y="2186561"/>
            <a:ext cx="1360175" cy="560461"/>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Markdown ismachine-readable</a:t>
            </a:r>
          </a:p>
        </p:txBody>
      </p:sp>
      <p:sp>
        <p:nvSpPr>
          <p:cNvPr id="18" name="Rounded Rectangle 17"/>
          <p:cNvSpPr/>
          <p:nvPr/>
        </p:nvSpPr>
        <p:spPr>
          <a:xfrm>
            <a:off x="3076067" y="3285929"/>
            <a:ext cx="1449094" cy="560461"/>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Enables AI-assistedarchitecture review</a:t>
            </a:r>
          </a:p>
        </p:txBody>
      </p:sp>
      <p:sp>
        <p:nvSpPr>
          <p:cNvPr id="19" name="Rounded Rectangle 18"/>
          <p:cNvSpPr/>
          <p:nvPr/>
        </p:nvSpPr>
        <p:spPr>
          <a:xfrm>
            <a:off x="3105539" y="4385296"/>
            <a:ext cx="1390151" cy="560461"/>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Confluence HTMLis not LLM-friendly</a:t>
            </a:r>
          </a:p>
        </p:txBody>
      </p:sp>
      <p:sp>
        <p:nvSpPr>
          <p:cNvPr id="20" name="Rounded Rectangle 19"/>
          <p:cNvSpPr/>
          <p:nvPr/>
        </p:nvSpPr>
        <p:spPr>
          <a:xfrm>
            <a:off x="590309" y="2100337"/>
            <a:ext cx="1616492" cy="732911"/>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Automated validationof patterns, standards,security</a:t>
            </a:r>
          </a:p>
        </p:txBody>
      </p:sp>
      <p:sp>
        <p:nvSpPr>
          <p:cNvPr id="21" name="Rounded Rectangle 20"/>
          <p:cNvSpPr/>
          <p:nvPr/>
        </p:nvSpPr>
        <p:spPr>
          <a:xfrm>
            <a:off x="583292" y="3372154"/>
            <a:ext cx="1630526" cy="560461"/>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Consistent scoringacross all architectures</a:t>
            </a:r>
          </a:p>
        </p:txBody>
      </p:sp>
      <p:sp>
        <p:nvSpPr>
          <p:cNvPr id="22" name="Rounded Rectangle 21"/>
          <p:cNvSpPr/>
          <p:nvPr/>
        </p:nvSpPr>
        <p:spPr>
          <a:xfrm>
            <a:off x="720545" y="4471521"/>
            <a:ext cx="1356021" cy="560461"/>
          </a:xfrm>
          <a:prstGeom prst="roundRect">
            <a:avLst/>
          </a:prstGeom>
          <a:solidFill>
            <a:srgbClr val="DC2626"/>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No manual reviewbottleneck</a:t>
            </a:r>
          </a:p>
        </p:txBody>
      </p:sp>
      <p:sp>
        <p:nvSpPr>
          <p:cNvPr id="23" name="TextBox 22"/>
          <p:cNvSpPr txBox="1"/>
          <p:nvPr/>
        </p:nvSpPr>
        <p:spPr>
          <a:xfrm>
            <a:off x="457200" y="6126480"/>
            <a:ext cx="11277295" cy="365760"/>
          </a:xfrm>
          <a:prstGeom prst="rect">
            <a:avLst/>
          </a:prstGeom>
          <a:noFill/>
        </p:spPr>
        <p:txBody>
          <a:bodyPr wrap="square">
            <a:spAutoFit/>
          </a:bodyPr>
          <a:lstStyle/>
          <a:p>
            <a:pPr algn="r"/>
            <a:r>
              <a:rPr sz="1000">
                <a:solidFill>
                  <a:srgbClr val="DC2626"/>
                </a:solidFill>
              </a:rPr>
              <a:t>■ </a:t>
            </a:r>
            <a:r>
              <a:rPr sz="1000">
                <a:solidFill>
                  <a:srgbClr val="444444"/>
                </a:solidFill>
              </a:rPr>
              <a:t>Enforcement     </a:t>
            </a:r>
            <a:r>
              <a:rPr sz="1000">
                <a:solidFill>
                  <a:srgbClr val="D97706"/>
                </a:solidFill>
              </a:rPr>
              <a:t>■ </a:t>
            </a:r>
            <a:r>
              <a:rPr sz="1000">
                <a:solidFill>
                  <a:srgbClr val="444444"/>
                </a:solidFill>
              </a:rPr>
              <a:t>LLM-Ready     </a:t>
            </a:r>
            <a:r>
              <a:rPr sz="1000">
                <a:solidFill>
                  <a:srgbClr val="2563EB"/>
                </a:solidFill>
              </a:rPr>
              <a:t>■ </a:t>
            </a:r>
            <a:r>
              <a:rPr sz="1000">
                <a:solidFill>
                  <a:srgbClr val="444444"/>
                </a:solidFill>
              </a:rPr>
              <a:t>Scalable     </a:t>
            </a:r>
            <a:r>
              <a:rPr sz="1000">
                <a:solidFill>
                  <a:srgbClr val="059669"/>
                </a:solidFill>
              </a:rPr>
              <a:t>■ </a:t>
            </a:r>
            <a:r>
              <a:rPr sz="1000">
                <a:solidFill>
                  <a:srgbClr val="444444"/>
                </a:solidFill>
              </a:rPr>
              <a:t>Traceability     </a:t>
            </a:r>
            <a:r>
              <a:rPr sz="1000">
                <a:solidFill>
                  <a:srgbClr val="7C3AED"/>
                </a:solidFill>
              </a:rPr>
              <a:t>■ </a:t>
            </a:r>
            <a:r>
              <a:rPr sz="1000">
                <a:solidFill>
                  <a:srgbClr val="444444"/>
                </a:solidFill>
              </a:rPr>
              <a:t>Communication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Cross-Team Ecosystem -- Already in Motion</a:t>
            </a:r>
          </a:p>
        </p:txBody>
      </p:sp>
      <p:sp>
        <p:nvSpPr>
          <p:cNvPr id="3" name="Rectangle 2"/>
          <p:cNvSpPr/>
          <p:nvPr/>
        </p:nvSpPr>
        <p:spPr>
          <a:xfrm>
            <a:off x="4693008" y="5471215"/>
            <a:ext cx="2805678" cy="70841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Architecture Governance</a:t>
            </a:r>
          </a:p>
        </p:txBody>
      </p:sp>
      <p:sp>
        <p:nvSpPr>
          <p:cNvPr id="4" name="Rectangle 3"/>
          <p:cNvSpPr/>
          <p:nvPr/>
        </p:nvSpPr>
        <p:spPr>
          <a:xfrm>
            <a:off x="4779054" y="4408596"/>
            <a:ext cx="2633585" cy="823290"/>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Architecture Governance Repo</a:t>
            </a:r>
          </a:p>
        </p:txBody>
      </p:sp>
      <p:sp>
        <p:nvSpPr>
          <p:cNvPr id="5" name="Rectangle 4"/>
          <p:cNvSpPr/>
          <p:nvPr/>
        </p:nvSpPr>
        <p:spPr>
          <a:xfrm>
            <a:off x="4111701" y="3345977"/>
            <a:ext cx="3968291" cy="70841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SIG / Working Group — Inner Source Model</a:t>
            </a:r>
          </a:p>
        </p:txBody>
      </p:sp>
      <p:sp>
        <p:nvSpPr>
          <p:cNvPr id="6" name="Rectangle 5"/>
          <p:cNvSpPr/>
          <p:nvPr/>
        </p:nvSpPr>
        <p:spPr>
          <a:xfrm>
            <a:off x="3738685" y="952692"/>
            <a:ext cx="4714323" cy="2039078"/>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Contributing Teams</a:t>
            </a:r>
          </a:p>
        </p:txBody>
      </p:sp>
      <p:sp>
        <p:nvSpPr>
          <p:cNvPr id="7" name="Rectangle 6"/>
          <p:cNvSpPr/>
          <p:nvPr/>
        </p:nvSpPr>
        <p:spPr>
          <a:xfrm>
            <a:off x="6959149" y="1177661"/>
            <a:ext cx="1314362" cy="158914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Team N ...</a:t>
            </a:r>
          </a:p>
        </p:txBody>
      </p:sp>
      <p:sp>
        <p:nvSpPr>
          <p:cNvPr id="8" name="Rectangle 7"/>
          <p:cNvSpPr/>
          <p:nvPr/>
        </p:nvSpPr>
        <p:spPr>
          <a:xfrm>
            <a:off x="3918181" y="1177661"/>
            <a:ext cx="1161491" cy="158914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Team A</a:t>
            </a:r>
          </a:p>
        </p:txBody>
      </p:sp>
      <p:sp>
        <p:nvSpPr>
          <p:cNvPr id="9" name="Rectangle 8"/>
          <p:cNvSpPr/>
          <p:nvPr/>
        </p:nvSpPr>
        <p:spPr>
          <a:xfrm>
            <a:off x="5438665" y="1120222"/>
            <a:ext cx="1161491" cy="1704019"/>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Team B</a:t>
            </a:r>
          </a:p>
        </p:txBody>
      </p:sp>
      <p:cxnSp>
        <p:nvCxnSpPr>
          <p:cNvPr id="10" name="Connector 9"/>
          <p:cNvCxnSpPr/>
          <p:nvPr/>
        </p:nvCxnSpPr>
        <p:spPr>
          <a:xfrm>
            <a:off x="6095847" y="2991771"/>
            <a:ext cx="0" cy="354206"/>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847" y="4054390"/>
            <a:ext cx="0" cy="354206"/>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5231886"/>
            <a:ext cx="0" cy="239329"/>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38413" y="5825421"/>
            <a:ext cx="3589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18925" y="4820241"/>
            <a:ext cx="3589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37373" y="3700183"/>
            <a:ext cx="358993"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66838" y="3700183"/>
            <a:ext cx="358992"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16331" y="1675464"/>
            <a:ext cx="0" cy="478657"/>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98927" y="1675464"/>
            <a:ext cx="0" cy="478657"/>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19411" y="1618025"/>
            <a:ext cx="0" cy="478657"/>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366407" y="2951415"/>
            <a:ext cx="1371600" cy="320040"/>
          </a:xfrm>
          <a:prstGeom prst="rect">
            <a:avLst/>
          </a:prstGeom>
          <a:noFill/>
        </p:spPr>
        <p:txBody>
          <a:bodyPr wrap="square">
            <a:spAutoFit/>
          </a:bodyPr>
          <a:lstStyle/>
          <a:p>
            <a:pPr algn="ctr">
              <a:defRPr sz="900">
                <a:solidFill>
                  <a:srgbClr val="333333"/>
                </a:solidFill>
              </a:defRPr>
            </a:pPr>
            <a:r>
              <a:t>PR</a:t>
            </a:r>
          </a:p>
        </p:txBody>
      </p:sp>
      <p:sp>
        <p:nvSpPr>
          <p:cNvPr id="21" name="TextBox 20"/>
          <p:cNvSpPr txBox="1"/>
          <p:nvPr/>
        </p:nvSpPr>
        <p:spPr>
          <a:xfrm>
            <a:off x="5250856" y="4014034"/>
            <a:ext cx="1371600" cy="320040"/>
          </a:xfrm>
          <a:prstGeom prst="rect">
            <a:avLst/>
          </a:prstGeom>
          <a:noFill/>
        </p:spPr>
        <p:txBody>
          <a:bodyPr wrap="square">
            <a:spAutoFit/>
          </a:bodyPr>
          <a:lstStyle/>
          <a:p>
            <a:pPr algn="ctr">
              <a:defRPr sz="900">
                <a:solidFill>
                  <a:srgbClr val="333333"/>
                </a:solidFill>
              </a:defRPr>
            </a:pPr>
            <a:r>
              <a:t>approved</a:t>
            </a:r>
          </a:p>
        </p:txBody>
      </p:sp>
      <p:sp>
        <p:nvSpPr>
          <p:cNvPr id="22" name="Rounded Rectangle 21"/>
          <p:cNvSpPr/>
          <p:nvPr/>
        </p:nvSpPr>
        <p:spPr>
          <a:xfrm>
            <a:off x="4872504" y="5638744"/>
            <a:ext cx="1065909" cy="373352"/>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Extract Rulesfrom contributed skills</a:t>
            </a:r>
          </a:p>
        </p:txBody>
      </p:sp>
      <p:sp>
        <p:nvSpPr>
          <p:cNvPr id="23" name="Rounded Rectangle 22"/>
          <p:cNvSpPr/>
          <p:nvPr/>
        </p:nvSpPr>
        <p:spPr>
          <a:xfrm>
            <a:off x="6297406" y="5638744"/>
            <a:ext cx="1021783" cy="373352"/>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Apply to ArchitectureGovernance Pipeline</a:t>
            </a:r>
          </a:p>
        </p:txBody>
      </p:sp>
      <p:sp>
        <p:nvSpPr>
          <p:cNvPr id="24" name="Rounded Rectangle 23"/>
          <p:cNvSpPr/>
          <p:nvPr/>
        </p:nvSpPr>
        <p:spPr>
          <a:xfrm>
            <a:off x="4958550" y="4633565"/>
            <a:ext cx="1060374" cy="373352"/>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Submodules(pull in external skills)</a:t>
            </a:r>
          </a:p>
        </p:txBody>
      </p:sp>
      <p:sp>
        <p:nvSpPr>
          <p:cNvPr id="25" name="Rounded Rectangle 24"/>
          <p:cNvSpPr/>
          <p:nvPr/>
        </p:nvSpPr>
        <p:spPr>
          <a:xfrm>
            <a:off x="6377918" y="4576126"/>
            <a:ext cx="855225" cy="488230"/>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Auto-Discovery(skills registeredby category tag)</a:t>
            </a:r>
          </a:p>
        </p:txBody>
      </p:sp>
      <p:sp>
        <p:nvSpPr>
          <p:cNvPr id="26" name="Rounded Rectangle 25"/>
          <p:cNvSpPr/>
          <p:nvPr/>
        </p:nvSpPr>
        <p:spPr>
          <a:xfrm>
            <a:off x="4291197" y="3513507"/>
            <a:ext cx="846175" cy="373352"/>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PRs reviewed bycross-team SIG</a:t>
            </a:r>
          </a:p>
        </p:txBody>
      </p:sp>
      <p:sp>
        <p:nvSpPr>
          <p:cNvPr id="27" name="Rounded Rectangle 26"/>
          <p:cNvSpPr/>
          <p:nvPr/>
        </p:nvSpPr>
        <p:spPr>
          <a:xfrm>
            <a:off x="5496366" y="3513507"/>
            <a:ext cx="1070471" cy="373352"/>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Contribution standardsenforced</a:t>
            </a:r>
          </a:p>
        </p:txBody>
      </p:sp>
      <p:sp>
        <p:nvSpPr>
          <p:cNvPr id="28" name="Rounded Rectangle 27"/>
          <p:cNvSpPr/>
          <p:nvPr/>
        </p:nvSpPr>
        <p:spPr>
          <a:xfrm>
            <a:off x="6925830" y="3513507"/>
            <a:ext cx="974665" cy="373352"/>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Approved skillsmerged &amp; versioned</a:t>
            </a:r>
          </a:p>
        </p:txBody>
      </p:sp>
      <p:sp>
        <p:nvSpPr>
          <p:cNvPr id="29" name="Rounded Rectangle 28"/>
          <p:cNvSpPr/>
          <p:nvPr/>
        </p:nvSpPr>
        <p:spPr>
          <a:xfrm>
            <a:off x="7325696" y="1416989"/>
            <a:ext cx="581269" cy="258474"/>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Repo</a:t>
            </a:r>
          </a:p>
        </p:txBody>
      </p:sp>
      <p:sp>
        <p:nvSpPr>
          <p:cNvPr id="30" name="Rounded Rectangle 29"/>
          <p:cNvSpPr/>
          <p:nvPr/>
        </p:nvSpPr>
        <p:spPr>
          <a:xfrm>
            <a:off x="7126679" y="2154121"/>
            <a:ext cx="979302" cy="373352"/>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Skill: Any markdown+ optional tooling</a:t>
            </a:r>
          </a:p>
        </p:txBody>
      </p:sp>
      <p:sp>
        <p:nvSpPr>
          <p:cNvPr id="31" name="Rounded Rectangle 30"/>
          <p:cNvSpPr/>
          <p:nvPr/>
        </p:nvSpPr>
        <p:spPr>
          <a:xfrm>
            <a:off x="4208292" y="1416989"/>
            <a:ext cx="581269" cy="258474"/>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Repo</a:t>
            </a:r>
          </a:p>
        </p:txBody>
      </p:sp>
      <p:sp>
        <p:nvSpPr>
          <p:cNvPr id="32" name="Rounded Rectangle 31"/>
          <p:cNvSpPr/>
          <p:nvPr/>
        </p:nvSpPr>
        <p:spPr>
          <a:xfrm>
            <a:off x="4085711" y="2154121"/>
            <a:ext cx="826431" cy="373352"/>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Skill: Markdowninstruction files</a:t>
            </a:r>
          </a:p>
        </p:txBody>
      </p:sp>
      <p:sp>
        <p:nvSpPr>
          <p:cNvPr id="33" name="Rounded Rectangle 32"/>
          <p:cNvSpPr/>
          <p:nvPr/>
        </p:nvSpPr>
        <p:spPr>
          <a:xfrm>
            <a:off x="5728776" y="1359551"/>
            <a:ext cx="581269" cy="258474"/>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Repo</a:t>
            </a:r>
          </a:p>
        </p:txBody>
      </p:sp>
      <p:sp>
        <p:nvSpPr>
          <p:cNvPr id="34" name="Rounded Rectangle 33"/>
          <p:cNvSpPr/>
          <p:nvPr/>
        </p:nvSpPr>
        <p:spPr>
          <a:xfrm>
            <a:off x="5606195" y="2096682"/>
            <a:ext cx="826431" cy="488230"/>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Skill: Markdownguidelines +Python scripts</a:t>
            </a:r>
          </a:p>
        </p:txBody>
      </p:sp>
      <p:sp>
        <p:nvSpPr>
          <p:cNvPr id="35" name="TextBox 34"/>
          <p:cNvSpPr txBox="1"/>
          <p:nvPr/>
        </p:nvSpPr>
        <p:spPr>
          <a:xfrm>
            <a:off x="457200" y="6126480"/>
            <a:ext cx="11277295" cy="365760"/>
          </a:xfrm>
          <a:prstGeom prst="rect">
            <a:avLst/>
          </a:prstGeom>
          <a:noFill/>
        </p:spPr>
        <p:txBody>
          <a:bodyPr wrap="square">
            <a:spAutoFit/>
          </a:bodyPr>
          <a:lstStyle/>
          <a:p>
            <a:pPr algn="r"/>
            <a:r>
              <a:rPr sz="1000">
                <a:solidFill>
                  <a:srgbClr val="7C3AED"/>
                </a:solidFill>
              </a:rPr>
              <a:t>■ </a:t>
            </a:r>
            <a:r>
              <a:rPr sz="1000">
                <a:solidFill>
                  <a:srgbClr val="444444"/>
                </a:solidFill>
              </a:rPr>
              <a:t>External Teams     </a:t>
            </a:r>
            <a:r>
              <a:rPr sz="1000">
                <a:solidFill>
                  <a:srgbClr val="D97706"/>
                </a:solidFill>
              </a:rPr>
              <a:t>■ </a:t>
            </a:r>
            <a:r>
              <a:rPr sz="1000">
                <a:solidFill>
                  <a:srgbClr val="444444"/>
                </a:solidFill>
              </a:rPr>
              <a:t>Governance Repo     </a:t>
            </a:r>
            <a:r>
              <a:rPr sz="1000">
                <a:solidFill>
                  <a:srgbClr val="059669"/>
                </a:solidFill>
              </a:rPr>
              <a:t>■ </a:t>
            </a:r>
            <a:r>
              <a:rPr sz="1000">
                <a:solidFill>
                  <a:srgbClr val="444444"/>
                </a:solidFill>
              </a:rPr>
              <a:t>Consumers     </a:t>
            </a:r>
            <a:r>
              <a:rPr sz="1000">
                <a:solidFill>
                  <a:srgbClr val="2563EB"/>
                </a:solidFill>
              </a:rPr>
              <a:t>■ </a:t>
            </a:r>
            <a:r>
              <a:rPr sz="1000">
                <a:solidFill>
                  <a:srgbClr val="444444"/>
                </a:solidFill>
              </a:rPr>
              <a:t>SIG / Working Group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What's Already Built</a:t>
            </a:r>
          </a:p>
        </p:txBody>
      </p:sp>
      <p:sp>
        <p:nvSpPr>
          <p:cNvPr id="3" name="Rectangle 2"/>
          <p:cNvSpPr/>
          <p:nvPr/>
        </p:nvSpPr>
        <p:spPr>
          <a:xfrm>
            <a:off x="4726719" y="956617"/>
            <a:ext cx="2738255" cy="93405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Knowledge Base</a:t>
            </a:r>
          </a:p>
        </p:txBody>
      </p:sp>
      <p:sp>
        <p:nvSpPr>
          <p:cNvPr id="4" name="Rectangle 3"/>
          <p:cNvSpPr/>
          <p:nvPr/>
        </p:nvSpPr>
        <p:spPr>
          <a:xfrm>
            <a:off x="4259569" y="2154526"/>
            <a:ext cx="3672555" cy="80740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Ecosystem</a:t>
            </a:r>
          </a:p>
        </p:txBody>
      </p:sp>
      <p:sp>
        <p:nvSpPr>
          <p:cNvPr id="5" name="Rectangle 4"/>
          <p:cNvSpPr/>
          <p:nvPr/>
        </p:nvSpPr>
        <p:spPr>
          <a:xfrm>
            <a:off x="4732450" y="3225784"/>
            <a:ext cx="2726794" cy="80740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Reporting</a:t>
            </a:r>
          </a:p>
        </p:txBody>
      </p:sp>
      <p:sp>
        <p:nvSpPr>
          <p:cNvPr id="6" name="Rectangle 5"/>
          <p:cNvSpPr/>
          <p:nvPr/>
        </p:nvSpPr>
        <p:spPr>
          <a:xfrm>
            <a:off x="3999959" y="4297043"/>
            <a:ext cx="4191776" cy="80740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Diagram Converters</a:t>
            </a:r>
          </a:p>
        </p:txBody>
      </p:sp>
      <p:sp>
        <p:nvSpPr>
          <p:cNvPr id="7" name="Rectangle 6"/>
          <p:cNvSpPr/>
          <p:nvPr/>
        </p:nvSpPr>
        <p:spPr>
          <a:xfrm>
            <a:off x="2897409" y="5368301"/>
            <a:ext cx="6396876" cy="807401"/>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5 AI Agents</a:t>
            </a:r>
          </a:p>
        </p:txBody>
      </p:sp>
      <p:sp>
        <p:nvSpPr>
          <p:cNvPr id="8" name="Rounded Rectangle 7"/>
          <p:cNvSpPr/>
          <p:nvPr/>
        </p:nvSpPr>
        <p:spPr>
          <a:xfrm>
            <a:off x="4911419" y="1154509"/>
            <a:ext cx="1116196" cy="538267"/>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Indexed Rules(patterns, standards,security)</a:t>
            </a:r>
          </a:p>
        </p:txBody>
      </p:sp>
      <p:sp>
        <p:nvSpPr>
          <p:cNvPr id="9" name="Rounded Rectangle 8"/>
          <p:cNvSpPr/>
          <p:nvPr/>
        </p:nvSpPr>
        <p:spPr>
          <a:xfrm>
            <a:off x="6291472" y="1217835"/>
            <a:ext cx="988803" cy="411616"/>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Rules Extraction+ Staleness Check</a:t>
            </a:r>
          </a:p>
        </p:txBody>
      </p:sp>
      <p:sp>
        <p:nvSpPr>
          <p:cNvPr id="10" name="Rounded Rectangle 9"/>
          <p:cNvSpPr/>
          <p:nvPr/>
        </p:nvSpPr>
        <p:spPr>
          <a:xfrm>
            <a:off x="4444269" y="2352419"/>
            <a:ext cx="870067" cy="411616"/>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 SubmoduleIntegration</a:t>
            </a:r>
          </a:p>
        </p:txBody>
      </p:sp>
      <p:sp>
        <p:nvSpPr>
          <p:cNvPr id="11" name="Rounded Rectangle 10"/>
          <p:cNvSpPr/>
          <p:nvPr/>
        </p:nvSpPr>
        <p:spPr>
          <a:xfrm>
            <a:off x="5578193" y="2352419"/>
            <a:ext cx="881363" cy="411616"/>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Auto-Discoveryby Category</a:t>
            </a:r>
          </a:p>
        </p:txBody>
      </p:sp>
      <p:sp>
        <p:nvSpPr>
          <p:cNvPr id="12" name="Rounded Rectangle 11"/>
          <p:cNvSpPr/>
          <p:nvPr/>
        </p:nvSpPr>
        <p:spPr>
          <a:xfrm>
            <a:off x="6723413" y="2352419"/>
            <a:ext cx="1024011" cy="411616"/>
          </a:xfrm>
          <a:prstGeom prst="roundRect">
            <a:avLst/>
          </a:prstGeom>
          <a:solidFill>
            <a:srgbClr val="7C3AED"/>
          </a:solidFill>
          <a:ln w="1270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Cross-Team SkillsAlready Integrated</a:t>
            </a:r>
          </a:p>
        </p:txBody>
      </p:sp>
      <p:sp>
        <p:nvSpPr>
          <p:cNvPr id="13" name="Rounded Rectangle 12"/>
          <p:cNvSpPr/>
          <p:nvPr/>
        </p:nvSpPr>
        <p:spPr>
          <a:xfrm>
            <a:off x="4917149" y="3423677"/>
            <a:ext cx="1154620" cy="411616"/>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Weighted Score Merge(30/30/40)</a:t>
            </a:r>
          </a:p>
        </p:txBody>
      </p:sp>
      <p:sp>
        <p:nvSpPr>
          <p:cNvPr id="14" name="Rounded Rectangle 13"/>
          <p:cNvSpPr/>
          <p:nvPr/>
        </p:nvSpPr>
        <p:spPr>
          <a:xfrm>
            <a:off x="6335627" y="3423677"/>
            <a:ext cx="938917" cy="411616"/>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HTML DashboardGeneration</a:t>
            </a:r>
          </a:p>
        </p:txBody>
      </p:sp>
      <p:sp>
        <p:nvSpPr>
          <p:cNvPr id="15" name="Rounded Rectangle 14"/>
          <p:cNvSpPr/>
          <p:nvPr/>
        </p:nvSpPr>
        <p:spPr>
          <a:xfrm>
            <a:off x="4184658" y="4494935"/>
            <a:ext cx="1176718" cy="411616"/>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Draw.io to Mermaid(XML parser, zero cost)</a:t>
            </a:r>
          </a:p>
        </p:txBody>
      </p:sp>
      <p:sp>
        <p:nvSpPr>
          <p:cNvPr id="16" name="Rounded Rectangle 15"/>
          <p:cNvSpPr/>
          <p:nvPr/>
        </p:nvSpPr>
        <p:spPr>
          <a:xfrm>
            <a:off x="5625234" y="4494935"/>
            <a:ext cx="1120896" cy="411616"/>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PlantUML to Mermaid(parser, zero cost)</a:t>
            </a:r>
          </a:p>
        </p:txBody>
      </p:sp>
      <p:sp>
        <p:nvSpPr>
          <p:cNvPr id="17" name="Rounded Rectangle 16"/>
          <p:cNvSpPr/>
          <p:nvPr/>
        </p:nvSpPr>
        <p:spPr>
          <a:xfrm>
            <a:off x="7009987" y="4494935"/>
            <a:ext cx="997048" cy="411616"/>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Image to Mermaid(vision-based)</a:t>
            </a:r>
          </a:p>
        </p:txBody>
      </p:sp>
      <p:sp>
        <p:nvSpPr>
          <p:cNvPr id="18" name="Rounded Rectangle 17"/>
          <p:cNvSpPr/>
          <p:nvPr/>
        </p:nvSpPr>
        <p:spPr>
          <a:xfrm>
            <a:off x="3082108" y="5566193"/>
            <a:ext cx="1002408" cy="411616"/>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 Agent(orchestrator)</a:t>
            </a:r>
          </a:p>
        </p:txBody>
      </p:sp>
      <p:sp>
        <p:nvSpPr>
          <p:cNvPr id="19" name="Rounded Rectangle 18"/>
          <p:cNvSpPr/>
          <p:nvPr/>
        </p:nvSpPr>
        <p:spPr>
          <a:xfrm>
            <a:off x="4348373" y="5566193"/>
            <a:ext cx="1313511" cy="411616"/>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Ingestion Agent(Confluence to Markdown)</a:t>
            </a:r>
          </a:p>
        </p:txBody>
      </p:sp>
      <p:sp>
        <p:nvSpPr>
          <p:cNvPr id="20" name="Rounded Rectangle 19"/>
          <p:cNvSpPr/>
          <p:nvPr/>
        </p:nvSpPr>
        <p:spPr>
          <a:xfrm>
            <a:off x="5925742" y="5629519"/>
            <a:ext cx="868913" cy="284965"/>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Patterns Agent</a:t>
            </a:r>
          </a:p>
        </p:txBody>
      </p:sp>
      <p:sp>
        <p:nvSpPr>
          <p:cNvPr id="21" name="Rounded Rectangle 20"/>
          <p:cNvSpPr/>
          <p:nvPr/>
        </p:nvSpPr>
        <p:spPr>
          <a:xfrm>
            <a:off x="7058511" y="5629519"/>
            <a:ext cx="925312" cy="284965"/>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Standards Agent</a:t>
            </a:r>
          </a:p>
        </p:txBody>
      </p:sp>
      <p:sp>
        <p:nvSpPr>
          <p:cNvPr id="22" name="Rounded Rectangle 21"/>
          <p:cNvSpPr/>
          <p:nvPr/>
        </p:nvSpPr>
        <p:spPr>
          <a:xfrm>
            <a:off x="8247681" y="5629519"/>
            <a:ext cx="861904" cy="284965"/>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Security Agent</a:t>
            </a:r>
          </a:p>
        </p:txBody>
      </p:sp>
      <p:sp>
        <p:nvSpPr>
          <p:cNvPr id="23" name="TextBox 22"/>
          <p:cNvSpPr txBox="1"/>
          <p:nvPr/>
        </p:nvSpPr>
        <p:spPr>
          <a:xfrm>
            <a:off x="457200" y="6126480"/>
            <a:ext cx="11277295" cy="365760"/>
          </a:xfrm>
          <a:prstGeom prst="rect">
            <a:avLst/>
          </a:prstGeom>
          <a:noFill/>
        </p:spPr>
        <p:txBody>
          <a:bodyPr wrap="square">
            <a:spAutoFit/>
          </a:bodyPr>
          <a:lstStyle/>
          <a:p>
            <a:pPr algn="r"/>
            <a:r>
              <a:rPr sz="1000">
                <a:solidFill>
                  <a:srgbClr val="D97706"/>
                </a:solidFill>
              </a:rPr>
              <a:t>■ </a:t>
            </a:r>
            <a:r>
              <a:rPr sz="1000">
                <a:solidFill>
                  <a:srgbClr val="444444"/>
                </a:solidFill>
              </a:rPr>
              <a:t>AI Agents     </a:t>
            </a:r>
            <a:r>
              <a:rPr sz="1000">
                <a:solidFill>
                  <a:srgbClr val="2563EB"/>
                </a:solidFill>
              </a:rPr>
              <a:t>■ </a:t>
            </a:r>
            <a:r>
              <a:rPr sz="1000">
                <a:solidFill>
                  <a:srgbClr val="444444"/>
                </a:solidFill>
              </a:rPr>
              <a:t>Converters     </a:t>
            </a:r>
            <a:r>
              <a:rPr sz="1000">
                <a:solidFill>
                  <a:srgbClr val="059669"/>
                </a:solidFill>
              </a:rPr>
              <a:t>■ </a:t>
            </a:r>
            <a:r>
              <a:rPr sz="1000">
                <a:solidFill>
                  <a:srgbClr val="444444"/>
                </a:solidFill>
              </a:rPr>
              <a:t>Reporting     </a:t>
            </a:r>
            <a:r>
              <a:rPr sz="1000">
                <a:solidFill>
                  <a:srgbClr val="7C3AED"/>
                </a:solidFill>
              </a:rPr>
              <a:t>■ </a:t>
            </a:r>
            <a:r>
              <a:rPr sz="1000">
                <a:solidFill>
                  <a:srgbClr val="444444"/>
                </a:solidFill>
              </a:rPr>
              <a:t>Ecosystem     </a:t>
            </a:r>
            <a:r>
              <a:rPr sz="1000">
                <a:solidFill>
                  <a:srgbClr val="0891B2"/>
                </a:solidFill>
              </a:rPr>
              <a:t>■ </a:t>
            </a:r>
            <a:r>
              <a:rPr sz="1000">
                <a:solidFill>
                  <a:srgbClr val="444444"/>
                </a:solidFill>
              </a:rPr>
              <a:t>Knowledge 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pPr>
              <a:defRPr sz="2800" b="1">
                <a:solidFill>
                  <a:srgbClr val="1A1A2E"/>
                </a:solidFill>
              </a:defRPr>
            </a:pPr>
            <a:r>
              <a:t>Rollout Plan</a:t>
            </a:r>
          </a:p>
        </p:txBody>
      </p:sp>
      <p:sp>
        <p:nvSpPr>
          <p:cNvPr id="3" name="Rectangle 2"/>
          <p:cNvSpPr/>
          <p:nvPr/>
        </p:nvSpPr>
        <p:spPr>
          <a:xfrm>
            <a:off x="9228914" y="1567875"/>
            <a:ext cx="2618803" cy="3996569"/>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Phase 4: Scale</a:t>
            </a:r>
          </a:p>
        </p:txBody>
      </p:sp>
      <p:sp>
        <p:nvSpPr>
          <p:cNvPr id="4" name="Rectangle 3"/>
          <p:cNvSpPr/>
          <p:nvPr/>
        </p:nvSpPr>
        <p:spPr>
          <a:xfrm>
            <a:off x="5920208" y="1463389"/>
            <a:ext cx="2873350" cy="4205540"/>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Phase 3: Automate</a:t>
            </a:r>
          </a:p>
        </p:txBody>
      </p:sp>
      <p:sp>
        <p:nvSpPr>
          <p:cNvPr id="5" name="Rectangle 4"/>
          <p:cNvSpPr/>
          <p:nvPr/>
        </p:nvSpPr>
        <p:spPr>
          <a:xfrm>
            <a:off x="3047130" y="1567875"/>
            <a:ext cx="2437722" cy="3996569"/>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Phase 2: Migrate</a:t>
            </a:r>
          </a:p>
        </p:txBody>
      </p:sp>
      <p:sp>
        <p:nvSpPr>
          <p:cNvPr id="6" name="Rectangle 5"/>
          <p:cNvSpPr/>
          <p:nvPr/>
        </p:nvSpPr>
        <p:spPr>
          <a:xfrm>
            <a:off x="343976" y="1567875"/>
            <a:ext cx="2267797" cy="3996569"/>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Bef>
                <a:spcPts val="0"/>
              </a:spcBef>
              <a:defRPr sz="1100" b="1">
                <a:solidFill>
                  <a:srgbClr val="333333"/>
                </a:solidFill>
              </a:defRPr>
            </a:pPr>
            <a:r>
              <a:t>Phase 1: Pilot</a:t>
            </a:r>
          </a:p>
        </p:txBody>
      </p:sp>
      <p:cxnSp>
        <p:nvCxnSpPr>
          <p:cNvPr id="7" name="Connector 6"/>
          <p:cNvCxnSpPr/>
          <p:nvPr/>
        </p:nvCxnSpPr>
        <p:spPr>
          <a:xfrm>
            <a:off x="2611774" y="3566159"/>
            <a:ext cx="435356"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4852" y="3566159"/>
            <a:ext cx="435356"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793558" y="3566159"/>
            <a:ext cx="435356" cy="0"/>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538316" y="2573548"/>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538316" y="3905737"/>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56883" y="2678033"/>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356883" y="4010223"/>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5991" y="2573548"/>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5991" y="3905737"/>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477875" y="2573548"/>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77875" y="3905737"/>
            <a:ext cx="0" cy="653034"/>
          </a:xfrm>
          <a:prstGeom prst="line">
            <a:avLst/>
          </a:prstGeom>
          <a:ln w="19050">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678284" y="1894392"/>
            <a:ext cx="1720064" cy="679155"/>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Onboard additionalarchitecture teams</a:t>
            </a:r>
          </a:p>
        </p:txBody>
      </p:sp>
      <p:sp>
        <p:nvSpPr>
          <p:cNvPr id="19" name="Rounded Rectangle 18"/>
          <p:cNvSpPr/>
          <p:nvPr/>
        </p:nvSpPr>
        <p:spPr>
          <a:xfrm>
            <a:off x="9533664" y="3226582"/>
            <a:ext cx="2009304" cy="679155"/>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SIG/Working Groupscontribute rules &amp; skills</a:t>
            </a:r>
          </a:p>
        </p:txBody>
      </p:sp>
      <p:sp>
        <p:nvSpPr>
          <p:cNvPr id="20" name="Rounded Rectangle 19"/>
          <p:cNvSpPr/>
          <p:nvPr/>
        </p:nvSpPr>
        <p:spPr>
          <a:xfrm>
            <a:off x="9608695" y="4558771"/>
            <a:ext cx="1859242" cy="679155"/>
          </a:xfrm>
          <a:prstGeom prst="roundRect">
            <a:avLst/>
          </a:prstGeom>
          <a:solidFill>
            <a:srgbClr val="059669"/>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DevDocs visualizationfor stakeholders</a:t>
            </a:r>
          </a:p>
        </p:txBody>
      </p:sp>
      <p:sp>
        <p:nvSpPr>
          <p:cNvPr id="21" name="Rounded Rectangle 20"/>
          <p:cNvSpPr/>
          <p:nvPr/>
        </p:nvSpPr>
        <p:spPr>
          <a:xfrm>
            <a:off x="6224957" y="1789907"/>
            <a:ext cx="2263851" cy="888126"/>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Enable governance-on-commitvia GitHub Actions</a:t>
            </a:r>
          </a:p>
        </p:txBody>
      </p:sp>
      <p:sp>
        <p:nvSpPr>
          <p:cNvPr id="22" name="Rounded Rectangle 21"/>
          <p:cNvSpPr/>
          <p:nvPr/>
        </p:nvSpPr>
        <p:spPr>
          <a:xfrm>
            <a:off x="6430663" y="3331067"/>
            <a:ext cx="1852440" cy="679155"/>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Auto-publish pipelineto Confluence</a:t>
            </a:r>
          </a:p>
        </p:txBody>
      </p:sp>
      <p:sp>
        <p:nvSpPr>
          <p:cNvPr id="23" name="Rounded Rectangle 22"/>
          <p:cNvSpPr/>
          <p:nvPr/>
        </p:nvSpPr>
        <p:spPr>
          <a:xfrm>
            <a:off x="6375495" y="4663257"/>
            <a:ext cx="1962775" cy="679155"/>
          </a:xfrm>
          <a:prstGeom prst="roundRect">
            <a:avLst/>
          </a:prstGeom>
          <a:solidFill>
            <a:srgbClr val="D97706"/>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Governance scorecardson every PR</a:t>
            </a:r>
          </a:p>
        </p:txBody>
      </p:sp>
      <p:sp>
        <p:nvSpPr>
          <p:cNvPr id="24" name="Rounded Rectangle 23"/>
          <p:cNvSpPr/>
          <p:nvPr/>
        </p:nvSpPr>
        <p:spPr>
          <a:xfrm>
            <a:off x="3416026" y="1894392"/>
            <a:ext cx="1699929" cy="679155"/>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Convert high-valueConfluence pages</a:t>
            </a:r>
          </a:p>
        </p:txBody>
      </p:sp>
      <p:sp>
        <p:nvSpPr>
          <p:cNvPr id="25" name="Rounded Rectangle 24"/>
          <p:cNvSpPr/>
          <p:nvPr/>
        </p:nvSpPr>
        <p:spPr>
          <a:xfrm>
            <a:off x="3383987" y="3226582"/>
            <a:ext cx="1764008" cy="679155"/>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SME reviewconverted baselines</a:t>
            </a:r>
          </a:p>
        </p:txBody>
      </p:sp>
      <p:sp>
        <p:nvSpPr>
          <p:cNvPr id="26" name="Rounded Rectangle 25"/>
          <p:cNvSpPr/>
          <p:nvPr/>
        </p:nvSpPr>
        <p:spPr>
          <a:xfrm>
            <a:off x="3351879" y="4558771"/>
            <a:ext cx="1828223" cy="679155"/>
          </a:xfrm>
          <a:prstGeom prst="roundRect">
            <a:avLst/>
          </a:prstGeom>
          <a:solidFill>
            <a:srgbClr val="2563EB"/>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Establish governanceknowledge base</a:t>
            </a:r>
          </a:p>
        </p:txBody>
      </p:sp>
      <p:sp>
        <p:nvSpPr>
          <p:cNvPr id="27" name="Rounded Rectangle 26"/>
          <p:cNvSpPr/>
          <p:nvPr/>
        </p:nvSpPr>
        <p:spPr>
          <a:xfrm>
            <a:off x="648726" y="1894392"/>
            <a:ext cx="1658298" cy="679155"/>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Select onearchitecture team</a:t>
            </a:r>
          </a:p>
        </p:txBody>
      </p:sp>
      <p:sp>
        <p:nvSpPr>
          <p:cNvPr id="28" name="Rounded Rectangle 27"/>
          <p:cNvSpPr/>
          <p:nvPr/>
        </p:nvSpPr>
        <p:spPr>
          <a:xfrm>
            <a:off x="779809" y="3226582"/>
            <a:ext cx="1396132" cy="679155"/>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GitHub-nativeworkflow</a:t>
            </a:r>
          </a:p>
        </p:txBody>
      </p:sp>
      <p:sp>
        <p:nvSpPr>
          <p:cNvPr id="29" name="Rounded Rectangle 28"/>
          <p:cNvSpPr/>
          <p:nvPr/>
        </p:nvSpPr>
        <p:spPr>
          <a:xfrm>
            <a:off x="702125" y="4558771"/>
            <a:ext cx="1551500" cy="679155"/>
          </a:xfrm>
          <a:prstGeom prst="roundRect">
            <a:avLst/>
          </a:prstGeom>
          <a:solidFill>
            <a:srgbClr val="0891B2"/>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defRPr sz="1000">
                <a:solidFill>
                  <a:srgbClr val="FFFFFF"/>
                </a:solidFill>
              </a:defRPr>
            </a:pPr>
            <a:r>
              <a:t>Run governancemanually via IDE</a:t>
            </a:r>
          </a:p>
        </p:txBody>
      </p:sp>
      <p:sp>
        <p:nvSpPr>
          <p:cNvPr id="30" name="TextBox 29"/>
          <p:cNvSpPr txBox="1"/>
          <p:nvPr/>
        </p:nvSpPr>
        <p:spPr>
          <a:xfrm>
            <a:off x="457200" y="6126480"/>
            <a:ext cx="11277295" cy="365760"/>
          </a:xfrm>
          <a:prstGeom prst="rect">
            <a:avLst/>
          </a:prstGeom>
          <a:noFill/>
        </p:spPr>
        <p:txBody>
          <a:bodyPr wrap="square">
            <a:spAutoFit/>
          </a:bodyPr>
          <a:lstStyle/>
          <a:p>
            <a:pPr algn="r"/>
            <a:r>
              <a:rPr sz="1000">
                <a:solidFill>
                  <a:srgbClr val="0891B2"/>
                </a:solidFill>
              </a:rPr>
              <a:t>■ </a:t>
            </a:r>
            <a:r>
              <a:rPr sz="1000">
                <a:solidFill>
                  <a:srgbClr val="444444"/>
                </a:solidFill>
              </a:rPr>
              <a:t>Phase 1: Pilot     </a:t>
            </a:r>
            <a:r>
              <a:rPr sz="1000">
                <a:solidFill>
                  <a:srgbClr val="2563EB"/>
                </a:solidFill>
              </a:rPr>
              <a:t>■ </a:t>
            </a:r>
            <a:r>
              <a:rPr sz="1000">
                <a:solidFill>
                  <a:srgbClr val="444444"/>
                </a:solidFill>
              </a:rPr>
              <a:t>Phase 2: Migrate     </a:t>
            </a:r>
            <a:r>
              <a:rPr sz="1000">
                <a:solidFill>
                  <a:srgbClr val="D97706"/>
                </a:solidFill>
              </a:rPr>
              <a:t>■ </a:t>
            </a:r>
            <a:r>
              <a:rPr sz="1000">
                <a:solidFill>
                  <a:srgbClr val="444444"/>
                </a:solidFill>
              </a:rPr>
              <a:t>Phase 3: Automate     </a:t>
            </a:r>
            <a:r>
              <a:rPr sz="1000">
                <a:solidFill>
                  <a:srgbClr val="059669"/>
                </a:solidFill>
              </a:rPr>
              <a:t>■ </a:t>
            </a:r>
            <a:r>
              <a:rPr sz="1000">
                <a:solidFill>
                  <a:srgbClr val="444444"/>
                </a:solidFill>
              </a:rPr>
              <a:t>Phase 4: Scale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