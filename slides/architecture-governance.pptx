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Ingestion: Building the Knowledge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45348" y="2824077"/>
            <a:ext cx="1619950" cy="148416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333333"/>
                </a:solidFill>
              </a:defRPr>
            </a:pPr>
            <a:r>
              <a:t>Knowledge Base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8577" y="3566160"/>
            <a:ext cx="325475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837569" y="3149552"/>
            <a:ext cx="453090" cy="162737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94528" y="3149552"/>
            <a:ext cx="485491" cy="162737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7569" y="3820030"/>
            <a:ext cx="453090" cy="16273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394528" y="3820030"/>
            <a:ext cx="485491" cy="16273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47026" y="3566160"/>
            <a:ext cx="791209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88383" y="3566160"/>
            <a:ext cx="325475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41174" y="3227666"/>
            <a:ext cx="709460" cy="84623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41174" y="3820030"/>
            <a:ext cx="566912" cy="84624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23963" y="332802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Bubble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396" y="3312289"/>
            <a:ext cx="1152181" cy="507741"/>
          </a:xfrm>
          <a:prstGeom prst="roundRect">
            <a:avLst/>
          </a:prstGeom>
          <a:solidFill>
            <a:srgbClr val="6C757D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ConfluenceReference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4052" y="3312289"/>
            <a:ext cx="1161132" cy="507741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Download, ParseDiagrams to 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0659" y="2895681"/>
            <a:ext cx="1103868" cy="507741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DeterministicRule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0659" y="3728897"/>
            <a:ext cx="1103868" cy="507741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LLM: TextRule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0003" y="3312289"/>
            <a:ext cx="1327022" cy="507741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Per-Page rules.md(Page 1, Page 2, ...)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8235" y="3312289"/>
            <a:ext cx="1150147" cy="507741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Consolidate into_all.rules.md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3858" y="3312289"/>
            <a:ext cx="1606015" cy="507741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LLM: EnrichmentSynonyms, Patterns, Hints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50634" y="3051909"/>
            <a:ext cx="1009379" cy="351513"/>
          </a:xfrm>
          <a:prstGeom prst="roundRect">
            <a:avLst/>
          </a:prstGeom>
          <a:solidFill>
            <a:srgbClr val="3A9D5C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_all.rules.md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08086" y="3728897"/>
            <a:ext cx="1294475" cy="351513"/>
          </a:xfrm>
          <a:prstGeom prst="roundRect">
            <a:avLst/>
          </a:prstGeom>
          <a:solidFill>
            <a:srgbClr val="3A9D5C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rules-enriched.json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Input: Confluence reference pages with embedded diagrams (Draw.io, SVG, PlantUML)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Deterministic: Diagrams parsed to AST, structural rules extracted with zero LLM usage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LLM used only twice: text rule extraction from prose + rule enrichment (both cached, run once per change)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Per-page rules bubble up into consolidated _all.rules.md across all pages in each index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Output: Knowledge base per index (_all.rules.md + rules-enriched.json with synonyms, patterns, hints)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Input     </a:t>
            </a:r>
            <a:r>
              <a:rPr sz="1000">
                <a:solidFill>
                  <a:srgbClr val="2B7BBA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Deterministic     </a:t>
            </a:r>
            <a:r>
              <a:rPr sz="1000">
                <a:solidFill>
                  <a:srgbClr val="E8833A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LLM-Powered     </a:t>
            </a:r>
            <a:r>
              <a:rPr sz="1000">
                <a:solidFill>
                  <a:srgbClr val="3A9D5C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Validation: Scoring a Target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330" y="2597160"/>
            <a:ext cx="1114071" cy="1997325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333333"/>
                </a:solidFill>
              </a:defRPr>
            </a:pPr>
            <a:r>
              <a:t>LLM Validation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5315" y="3170650"/>
            <a:ext cx="1245392" cy="164136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333333"/>
                </a:solidFill>
              </a:defRPr>
            </a:pPr>
            <a:r>
              <a:t>Knowledge Base 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1771" y="2607048"/>
            <a:ext cx="247194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50829" y="2728462"/>
            <a:ext cx="678083" cy="76341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50829" y="2467422"/>
            <a:ext cx="2411897" cy="75761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27111" y="2804803"/>
            <a:ext cx="643500" cy="420229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27924" y="3477170"/>
            <a:ext cx="469977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31208" y="3729308"/>
            <a:ext cx="666239" cy="262025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757626" y="3729308"/>
            <a:ext cx="795295" cy="77618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50337" y="2963007"/>
            <a:ext cx="1000008" cy="262025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8889" y="3544381"/>
            <a:ext cx="905038" cy="5144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10776" y="3729308"/>
            <a:ext cx="1142853" cy="499331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64385" y="2963007"/>
            <a:ext cx="620963" cy="32135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90804" y="3569435"/>
            <a:ext cx="370791" cy="2638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61102" y="3669981"/>
            <a:ext cx="690060" cy="55865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5923" y="3477170"/>
            <a:ext cx="247194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47060" y="3477170"/>
            <a:ext cx="247193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73877" y="3477170"/>
            <a:ext cx="247193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88626" y="258545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page.md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9025" y="216028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AST 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6686" y="268433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Unlocked only10-20% of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6686" y="331715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Unlocked only10-20% of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6686" y="394996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Unlocked only10-20% of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3870" y="2414237"/>
            <a:ext cx="707900" cy="385622"/>
          </a:xfrm>
          <a:prstGeom prst="roundRect">
            <a:avLst/>
          </a:prstGeom>
          <a:solidFill>
            <a:srgbClr val="6C757D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ConfluenceTarget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8965" y="2414237"/>
            <a:ext cx="881863" cy="385622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Download, ParseDiagrams to AST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8098" y="3343685"/>
            <a:ext cx="799826" cy="266969"/>
          </a:xfrm>
          <a:prstGeom prst="roundRect">
            <a:avLst/>
          </a:prstGeom>
          <a:solidFill>
            <a:srgbClr val="6C757D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Security Index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4815" y="3857848"/>
            <a:ext cx="806392" cy="266969"/>
          </a:xfrm>
          <a:prstGeom prst="roundRect">
            <a:avLst/>
          </a:prstGeom>
          <a:solidFill>
            <a:srgbClr val="6C757D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Patterns Index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396" y="4372011"/>
            <a:ext cx="859229" cy="266969"/>
          </a:xfrm>
          <a:prstGeom prst="roundRect">
            <a:avLst/>
          </a:prstGeom>
          <a:solidFill>
            <a:srgbClr val="6C757D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Standards Index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28912" y="2611992"/>
            <a:ext cx="998199" cy="385622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LLM: Extract Claims(Cached)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97901" y="3225032"/>
            <a:ext cx="1020987" cy="504275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Deterministic ScorerPure Python80-90% Rules Locked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0345" y="2770196"/>
            <a:ext cx="814039" cy="385622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Patterns AgentWeight: 30%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3927" y="3403012"/>
            <a:ext cx="866877" cy="385622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Standards AgentWeight: 30%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629" y="4035828"/>
            <a:ext cx="807473" cy="385622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Security AgentWeight: 40%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1595" y="3284359"/>
            <a:ext cx="864328" cy="385622"/>
          </a:xfrm>
          <a:prstGeom prst="roundRect">
            <a:avLst/>
          </a:prstGeom>
          <a:solidFill>
            <a:srgbClr val="2B7BBA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Merge WeightedReports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3117" y="3343685"/>
            <a:ext cx="973943" cy="266969"/>
          </a:xfrm>
          <a:prstGeom prst="roundRect">
            <a:avLst/>
          </a:prstGeom>
          <a:solidFill>
            <a:srgbClr val="3A9D5C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Governance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4253" y="3343685"/>
            <a:ext cx="879623" cy="266969"/>
          </a:xfrm>
          <a:prstGeom prst="roundRect">
            <a:avLst/>
          </a:prstGeom>
          <a:solidFill>
            <a:srgbClr val="3A9D5C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HTML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21070" y="3343685"/>
            <a:ext cx="1056753" cy="266969"/>
          </a:xfrm>
          <a:prstGeom prst="roundRect">
            <a:avLst/>
          </a:prstGeom>
          <a:solidFill>
            <a:srgbClr val="3A9D5C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</a:defRPr>
            </a:pPr>
            <a:r>
              <a:t>Confluence Comment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7548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Target page downloaded from Confluence, diagrams parsed to AST (same pipeline as ingestion)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Scored against 3 knowledge base indexes: Security (Weight: 40%), Patterns (Weight: 30%), Standards (Weight: 30%)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80–90% of scoring is deterministic Python — stable, repeatable, no LLM variance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LLM validation agents handle only 10–20% ambiguous rules (weak evidence or contradictions)</a:t>
            </a:r>
          </a:p>
          <a:p>
            <a:pPr>
              <a:spcAft>
                <a:spcPts val="400"/>
              </a:spcAft>
              <a:defRPr sz="1200">
                <a:solidFill>
                  <a:srgbClr val="444444"/>
                </a:solidFill>
              </a:defRPr>
              <a:buChar char="•"/>
            </a:pPr>
            <a:r>
              <a:t>Output: Governance report, HTML dashboard, Confluence comment (Pass ≥ 70, Warn 50–69, Fail &lt; 50)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Input     </a:t>
            </a:r>
            <a:r>
              <a:rPr sz="1000">
                <a:solidFill>
                  <a:srgbClr val="2B7BBA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Deterministic     </a:t>
            </a:r>
            <a:r>
              <a:rPr sz="1000">
                <a:solidFill>
                  <a:srgbClr val="E8833A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LLM-Powered     </a:t>
            </a:r>
            <a:r>
              <a:rPr sz="1000">
                <a:solidFill>
                  <a:srgbClr val="3A9D5C"/>
                </a:solidFill>
              </a:rPr>
              <a:t>■ </a:t>
            </a:r>
            <a:r>
              <a:rPr sz="1000">
                <a:solidFill>
                  <a:srgbClr val="444444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